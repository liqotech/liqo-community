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B580749-99D4-47FA-82C4-2891A17A3383}">
  <a:tblStyle styleId="{BB580749-99D4-47FA-82C4-2891A17A338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4709" autoAdjust="0"/>
  </p:normalViewPr>
  <p:slideViewPr>
    <p:cSldViewPr snapToGrid="0">
      <p:cViewPr varScale="1">
        <p:scale>
          <a:sx n="56" d="100"/>
          <a:sy n="56" d="100"/>
        </p:scale>
        <p:origin x="2218" y="43"/>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86db257107_2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86db257107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Commenti:</a:t>
            </a:r>
            <a:endParaRPr/>
          </a:p>
          <a:p>
            <a:pPr marL="457200" lvl="0" indent="-298450" algn="l" rtl="0">
              <a:spcBef>
                <a:spcPts val="0"/>
              </a:spcBef>
              <a:spcAft>
                <a:spcPts val="0"/>
              </a:spcAft>
              <a:buSzPts val="1100"/>
              <a:buChar char="●"/>
            </a:pPr>
            <a:r>
              <a:rPr lang="it"/>
              <a:t>suggerirei di aggiungere un piccolo disegno che spiega meglio il problema, e magari un disegno a fianco per illustrare la soluzione</a:t>
            </a:r>
            <a:endParaRPr/>
          </a:p>
          <a:p>
            <a:pPr marL="457200" lvl="0" indent="-298450" algn="l" rtl="0">
              <a:spcBef>
                <a:spcPts val="0"/>
              </a:spcBef>
              <a:spcAft>
                <a:spcPts val="0"/>
              </a:spcAft>
              <a:buSzPts val="1100"/>
              <a:buChar char="●"/>
            </a:pPr>
            <a:r>
              <a:rPr lang="it"/>
              <a:t>non ho capito bene la frase “to address the problem in WireGuard require kernel recompilation”: ma la tua patch sulla threaded napi non era stata gia’ merged? C’e’ altro che e’ pending? still in the research domain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86db257107_2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386db257107_2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86db257107_2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86db257107_2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86db257107_2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86db257107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86db257107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86db25710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86db257107_2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86db257107_2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86db257107_2_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86db257107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86db257107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86db257107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Mi concentro sui bivi implementativi che ho trovato nel realizzare il proof of cencept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86db257107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86db257107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86db257107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86db257107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Mi concentro sui bivi implementativi che ho trovato nel realizzare il proof of cencept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86db257107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86db257107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386db257107_0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386db257107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86db257107_0_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86db257107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86db257107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86db257107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86db257107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386db257107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386db257107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386db257107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La generazione dei parametri è demandata a delle funzioni di supporto</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86db257107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86db257107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86db257107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86db257107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86db25710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86db25710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Qui il problema è uno: la fusione tra Gateway Server e template avviene in modo molto lazy. Io invece sto scrivendo direttamente la risorsa. L’alternativa è estendere in qualche modo le potenzialità espressive del template</a:t>
            </a:r>
            <a:br>
              <a:rPr lang="it"/>
            </a:br>
            <a:br>
              <a:rPr lang="it"/>
            </a:br>
            <a:r>
              <a:rPr lang="it"/>
              <a:t>Le porte Nodeport dovranno essere opportunamente esposte nel Service</a:t>
            </a:r>
            <a:br>
              <a:rPr lang="it"/>
            </a:b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86db257107_0_1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86db257107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86db257107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86db257107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86db257107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86db257107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86db257107_0_1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86db257107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dirty="0">
                <a:solidFill>
                  <a:schemeClr val="dk1"/>
                </a:solidFill>
              </a:rPr>
              <a:t>L’idea è attivare la threaded NAPI su tutte le interfacce anche nel caso in cui non si stia usando il multitunnel. Questo perché già nella nostra patch abbiamo detto che abilitarla per la singola interfaccia non crea problemi.</a:t>
            </a:r>
            <a:br>
              <a:rPr lang="it" dirty="0">
                <a:solidFill>
                  <a:schemeClr val="dk1"/>
                </a:solidFill>
              </a:rPr>
            </a:br>
            <a:r>
              <a:rPr lang="it" dirty="0">
                <a:solidFill>
                  <a:schemeClr val="dk1"/>
                </a:solidFill>
              </a:rPr>
              <a:t>Quindi ne consegue che:</a:t>
            </a:r>
            <a:br>
              <a:rPr lang="it" dirty="0">
                <a:solidFill>
                  <a:schemeClr val="dk1"/>
                </a:solidFill>
              </a:rPr>
            </a:br>
            <a:r>
              <a:rPr lang="it" dirty="0">
                <a:solidFill>
                  <a:schemeClr val="dk1"/>
                </a:solidFill>
              </a:rPr>
              <a:t>    Non vi è una logica per controllare che siano state create N&gt;1 interfacce ed abilitare il flag, viene abilitato sempre</a:t>
            </a:r>
            <a:br>
              <a:rPr lang="it" dirty="0">
                <a:solidFill>
                  <a:schemeClr val="dk1"/>
                </a:solidFill>
              </a:rPr>
            </a:br>
            <a:r>
              <a:rPr lang="it" dirty="0">
                <a:solidFill>
                  <a:schemeClr val="dk1"/>
                </a:solidFill>
              </a:rPr>
              <a:t>    Non si controlla nemmeno che il flag sia già abilitato , perchè Enable(Enable(X)) = Enable(X) quindi la funzione è idempotente</a:t>
            </a:r>
            <a:br>
              <a:rPr lang="it" dirty="0">
                <a:solidFill>
                  <a:schemeClr val="dk1"/>
                </a:solidFill>
              </a:rPr>
            </a:br>
            <a:br>
              <a:rPr lang="it" dirty="0">
                <a:solidFill>
                  <a:schemeClr val="dk1"/>
                </a:solidFill>
              </a:rPr>
            </a:br>
            <a:r>
              <a:rPr lang="it" dirty="0">
                <a:solidFill>
                  <a:schemeClr val="dk1"/>
                </a:solidFill>
              </a:rPr>
              <a:t>La go routine itera fino a che non ha trovato un numero di file maggiore di 1.  Lancia poi una funzione di help EnableWireguardThreadedMode ed itera fino a che non restituisce un valore di non errore.</a:t>
            </a:r>
            <a:br>
              <a:rPr lang="it" dirty="0">
                <a:solidFill>
                  <a:schemeClr val="dk1"/>
                </a:solidFill>
              </a:rPr>
            </a:br>
            <a:br>
              <a:rPr lang="it" dirty="0">
                <a:solidFill>
                  <a:schemeClr val="dk1"/>
                </a:solidFill>
              </a:rPr>
            </a:br>
            <a:r>
              <a:rPr lang="it" dirty="0">
                <a:solidFill>
                  <a:schemeClr val="dk1"/>
                </a:solidFill>
              </a:rPr>
              <a:t>La funzione EnableWireguardThreadeMode itera fino a che non ha messo il sistema in rw. Ritorna non errore solo se ha settato tutte le interfacce a threade. Avvia un processo in defer per riportare tutto in read-only</a:t>
            </a:r>
            <a:br>
              <a:rPr lang="it" dirty="0">
                <a:solidFill>
                  <a:schemeClr val="dk1"/>
                </a:solidFill>
              </a:rPr>
            </a:br>
            <a:br>
              <a:rPr lang="it" dirty="0">
                <a:solidFill>
                  <a:schemeClr val="dk1"/>
                </a:solidFill>
              </a:rPr>
            </a:br>
            <a:br>
              <a:rPr lang="it" dirty="0">
                <a:solidFill>
                  <a:schemeClr val="dk1"/>
                </a:solidFill>
              </a:rPr>
            </a:br>
            <a:br>
              <a:rPr lang="it" dirty="0">
                <a:solidFill>
                  <a:schemeClr val="dk1"/>
                </a:solidFill>
              </a:rPr>
            </a:br>
            <a:endParaRPr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86db257107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386db257107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86db257107_0_1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86db257107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386db257107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386db257107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86db257107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86db257107_0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86db257107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86db257107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it">
                <a:solidFill>
                  <a:schemeClr val="dk1"/>
                </a:solidFill>
              </a:rPr>
              <a:t>A sinistra una sezione dello spec della RouteConfiguration milan-gw-ext sul cluster rome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it">
                <a:solidFill>
                  <a:schemeClr val="dk1"/>
                </a:solidFill>
              </a:rPr>
              <a:t>A destra l’effetto sul gateway. Ovvero l’output del comando ip rule show all in alto. E di ip route show table milan in basso</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86db257107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86db257107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86db257107_0_1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386db257107_0_1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86db257107_0_20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86db257107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86db257107_0_2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86db257107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86db257107_0_2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86db257107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it"/>
              <a:t>L’idea è usare un match custom che supporti un numero di interfacce e un operatore. Il match viene aggiunto alle rule esistenti.  prima si crea il set con un nome che equivale al numero di interfacce. Poi si crea la regola, traducendo il match, che punta a quel set</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386db257107_0_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386db257107_0_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86db257107_0_2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86db257107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liqotech/liqo/issues/3079"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doi.org/10.1093/comjnl/bxaf059"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MircoBarone/liqo/tree/multi-tunnel" TargetMode="Externa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MircoBarone/liqo/tree/multi-tunnel"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device.go"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it"/>
              <a:t>MULTI-TUNNEL in LIQO</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it"/>
              <a:t>maintainers’ meeting 09/03/2026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Motivation</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Liqo is reported to be slow when multiple flows run between two peered clusters</a:t>
            </a:r>
            <a:endParaRPr/>
          </a:p>
          <a:p>
            <a:pPr marL="914400" lvl="1" indent="-317500" algn="l" rtl="0">
              <a:spcBef>
                <a:spcPts val="0"/>
              </a:spcBef>
              <a:spcAft>
                <a:spcPts val="0"/>
              </a:spcAft>
              <a:buSzPts val="1400"/>
              <a:buChar char="○"/>
            </a:pPr>
            <a:r>
              <a:rPr lang="it"/>
              <a:t>Example: </a:t>
            </a:r>
            <a:r>
              <a:rPr lang="it" u="sng">
                <a:solidFill>
                  <a:schemeClr val="hlink"/>
                </a:solidFill>
                <a:hlinkClick r:id="rId3"/>
              </a:rPr>
              <a:t>https://github.com/liqotech/liqo/issues/3079</a:t>
            </a:r>
            <a:endParaRPr/>
          </a:p>
          <a:p>
            <a:pPr marL="457200" lvl="0" indent="-342900" algn="l" rtl="0">
              <a:spcBef>
                <a:spcPts val="0"/>
              </a:spcBef>
              <a:spcAft>
                <a:spcPts val="0"/>
              </a:spcAft>
              <a:buSzPts val="1800"/>
              <a:buChar char="●"/>
            </a:pPr>
            <a:r>
              <a:rPr lang="it" b="1"/>
              <a:t>Cause:</a:t>
            </a:r>
            <a:r>
              <a:rPr lang="it"/>
              <a:t> each flow encapsulated by WireGuard shares the same 5-tuple and is processed by the same CPU core on reception</a:t>
            </a:r>
            <a:endParaRPr/>
          </a:p>
          <a:p>
            <a:pPr marL="457200" lvl="0" indent="-342900" algn="l" rtl="0">
              <a:spcBef>
                <a:spcPts val="0"/>
              </a:spcBef>
              <a:spcAft>
                <a:spcPts val="0"/>
              </a:spcAft>
              <a:buSzPts val="1800"/>
              <a:buChar char="●"/>
            </a:pPr>
            <a:r>
              <a:rPr lang="it"/>
              <a:t>Existing proposals to address the problem in WireGuard are still in the research phase and require kernel recompilation</a:t>
            </a:r>
            <a:endParaRPr/>
          </a:p>
          <a:p>
            <a:pPr marL="914400" lvl="1" indent="-317500" algn="l" rtl="0">
              <a:spcBef>
                <a:spcPts val="0"/>
              </a:spcBef>
              <a:spcAft>
                <a:spcPts val="0"/>
              </a:spcAft>
              <a:buSzPts val="1400"/>
              <a:buChar char="○"/>
            </a:pPr>
            <a:r>
              <a:rPr lang="it"/>
              <a:t>Example: [REFS] </a:t>
            </a:r>
            <a:r>
              <a:rPr lang="it" u="sng">
                <a:solidFill>
                  <a:schemeClr val="hlink"/>
                </a:solidFill>
                <a:hlinkClick r:id="rId4"/>
              </a:rPr>
              <a:t>https://doi.org/10.1093/comjnl/bxaf059</a:t>
            </a:r>
            <a:endParaRPr/>
          </a:p>
          <a:p>
            <a:pPr marL="457200" lvl="0" indent="-342900" algn="l" rtl="0">
              <a:spcBef>
                <a:spcPts val="0"/>
              </a:spcBef>
              <a:spcAft>
                <a:spcPts val="0"/>
              </a:spcAft>
              <a:buSzPts val="1800"/>
              <a:buChar char="●"/>
            </a:pPr>
            <a:r>
              <a:rPr lang="it" b="1"/>
              <a:t>Simpler solution:</a:t>
            </a:r>
            <a:r>
              <a:rPr lang="it"/>
              <a:t> parallelize traffic with multiple WireGuard interfaces and distribute it using ECMP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Problem</a:t>
            </a:r>
            <a:endParaRPr/>
          </a:p>
        </p:txBody>
      </p:sp>
      <p:pic>
        <p:nvPicPr>
          <p:cNvPr id="67" name="Google Shape;67;p15" title="LiqoProblem.drawio.png"/>
          <p:cNvPicPr preferRelativeResize="0"/>
          <p:nvPr/>
        </p:nvPicPr>
        <p:blipFill>
          <a:blip r:embed="rId3">
            <a:alphaModFix/>
          </a:blip>
          <a:stretch>
            <a:fillRect/>
          </a:stretch>
        </p:blipFill>
        <p:spPr>
          <a:xfrm>
            <a:off x="0" y="1170125"/>
            <a:ext cx="9113901" cy="2560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Solution</a:t>
            </a:r>
            <a:endParaRPr/>
          </a:p>
        </p:txBody>
      </p:sp>
      <p:pic>
        <p:nvPicPr>
          <p:cNvPr id="73" name="Google Shape;73;p16" title="LiqoSOlution.drawio.png"/>
          <p:cNvPicPr preferRelativeResize="0"/>
          <p:nvPr/>
        </p:nvPicPr>
        <p:blipFill>
          <a:blip r:embed="rId3">
            <a:alphaModFix/>
          </a:blip>
          <a:stretch>
            <a:fillRect/>
          </a:stretch>
        </p:blipFill>
        <p:spPr>
          <a:xfrm>
            <a:off x="152400" y="1170125"/>
            <a:ext cx="8839199" cy="268135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a:spLocks noGrp="1"/>
          </p:cNvSpPr>
          <p:nvPr>
            <p:ph type="title"/>
          </p:nvPr>
        </p:nvSpPr>
        <p:spPr>
          <a:xfrm>
            <a:off x="311700" y="283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Preliminary Tests - Manual Implementation</a:t>
            </a:r>
            <a:endParaRPr/>
          </a:p>
        </p:txBody>
      </p:sp>
      <p:sp>
        <p:nvSpPr>
          <p:cNvPr id="79" name="Google Shape;79;p17"/>
          <p:cNvSpPr txBox="1">
            <a:spLocks noGrp="1"/>
          </p:cNvSpPr>
          <p:nvPr>
            <p:ph type="body" idx="1"/>
          </p:nvPr>
        </p:nvSpPr>
        <p:spPr>
          <a:xfrm>
            <a:off x="311700" y="808875"/>
            <a:ext cx="8520600" cy="3592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Single Machine, Quick-start setup</a:t>
            </a:r>
            <a:endParaRPr/>
          </a:p>
          <a:p>
            <a:pPr marL="914400" lvl="1" indent="-317500" algn="l" rtl="0">
              <a:spcBef>
                <a:spcPts val="0"/>
              </a:spcBef>
              <a:spcAft>
                <a:spcPts val="0"/>
              </a:spcAft>
              <a:buSzPts val="1400"/>
              <a:buChar char="○"/>
            </a:pPr>
            <a:r>
              <a:rPr lang="it"/>
              <a:t>Single machine Cloudlab sm220u (32 cores), with the Quick-start setup (2 KinD clusters connected with Liqo)</a:t>
            </a:r>
            <a:endParaRPr/>
          </a:p>
          <a:p>
            <a:pPr marL="457200" lvl="0" indent="-342900" algn="l" rtl="0">
              <a:spcBef>
                <a:spcPts val="0"/>
              </a:spcBef>
              <a:spcAft>
                <a:spcPts val="0"/>
              </a:spcAft>
              <a:buSzPts val="1800"/>
              <a:buChar char="●"/>
            </a:pPr>
            <a:r>
              <a:rPr lang="it"/>
              <a:t>Peering only (No Offloading)</a:t>
            </a:r>
            <a:endParaRPr/>
          </a:p>
          <a:p>
            <a:pPr marL="457200" lvl="0" indent="-342900" algn="l" rtl="0">
              <a:spcBef>
                <a:spcPts val="0"/>
              </a:spcBef>
              <a:spcAft>
                <a:spcPts val="0"/>
              </a:spcAft>
              <a:buSzPts val="1800"/>
              <a:buChar char="●"/>
            </a:pPr>
            <a:r>
              <a:rPr lang="it"/>
              <a:t>Pod-to-Pod tests: iperf3 between two nginx pods (average of 5 runs)</a:t>
            </a:r>
            <a:endParaRPr/>
          </a:p>
          <a:p>
            <a:pPr marL="0" lvl="0" indent="0" algn="l" rtl="0">
              <a:spcBef>
                <a:spcPts val="1200"/>
              </a:spcBef>
              <a:spcAft>
                <a:spcPts val="1200"/>
              </a:spcAft>
              <a:buNone/>
            </a:pPr>
            <a:endParaRPr/>
          </a:p>
        </p:txBody>
      </p:sp>
      <p:graphicFrame>
        <p:nvGraphicFramePr>
          <p:cNvPr id="80" name="Google Shape;80;p17"/>
          <p:cNvGraphicFramePr/>
          <p:nvPr/>
        </p:nvGraphicFramePr>
        <p:xfrm>
          <a:off x="565975" y="2391850"/>
          <a:ext cx="3000000" cy="3000000"/>
        </p:xfrm>
        <a:graphic>
          <a:graphicData uri="http://schemas.openxmlformats.org/drawingml/2006/table">
            <a:tbl>
              <a:tblPr>
                <a:noFill/>
                <a:tableStyleId>{BB580749-99D4-47FA-82C4-2891A17A3383}</a:tableStyleId>
              </a:tblPr>
              <a:tblGrid>
                <a:gridCol w="1931200">
                  <a:extLst>
                    <a:ext uri="{9D8B030D-6E8A-4147-A177-3AD203B41FA5}">
                      <a16:colId xmlns:a16="http://schemas.microsoft.com/office/drawing/2014/main" val="20000"/>
                    </a:ext>
                  </a:extLst>
                </a:gridCol>
                <a:gridCol w="1931200">
                  <a:extLst>
                    <a:ext uri="{9D8B030D-6E8A-4147-A177-3AD203B41FA5}">
                      <a16:colId xmlns:a16="http://schemas.microsoft.com/office/drawing/2014/main" val="20001"/>
                    </a:ext>
                  </a:extLst>
                </a:gridCol>
                <a:gridCol w="1931200">
                  <a:extLst>
                    <a:ext uri="{9D8B030D-6E8A-4147-A177-3AD203B41FA5}">
                      <a16:colId xmlns:a16="http://schemas.microsoft.com/office/drawing/2014/main" val="20002"/>
                    </a:ext>
                  </a:extLst>
                </a:gridCol>
                <a:gridCol w="1931200">
                  <a:extLst>
                    <a:ext uri="{9D8B030D-6E8A-4147-A177-3AD203B41FA5}">
                      <a16:colId xmlns:a16="http://schemas.microsoft.com/office/drawing/2014/main" val="20003"/>
                    </a:ext>
                  </a:extLst>
                </a:gridCol>
              </a:tblGrid>
              <a:tr h="62775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r>
                        <a:rPr lang="it"/>
                        <a:t>Baseline Aggregated Throughput (Gbit/s)</a:t>
                      </a:r>
                      <a:endParaRPr/>
                    </a:p>
                  </a:txBody>
                  <a:tcPr marL="91425" marR="91425" marT="91425" marB="91425"/>
                </a:tc>
                <a:tc>
                  <a:txBody>
                    <a:bodyPr/>
                    <a:lstStyle/>
                    <a:p>
                      <a:pPr marL="0" lvl="0" indent="0" algn="l" rtl="0">
                        <a:spcBef>
                          <a:spcPts val="0"/>
                        </a:spcBef>
                        <a:spcAft>
                          <a:spcPts val="0"/>
                        </a:spcAft>
                        <a:buNone/>
                      </a:pPr>
                      <a:r>
                        <a:rPr lang="it"/>
                        <a:t>2 tunnels Aggregated</a:t>
                      </a:r>
                      <a:br>
                        <a:rPr lang="it"/>
                      </a:br>
                      <a:r>
                        <a:rPr lang="it"/>
                        <a:t>Throughput </a:t>
                      </a:r>
                      <a:r>
                        <a:rPr lang="it">
                          <a:solidFill>
                            <a:schemeClr val="dk1"/>
                          </a:solidFill>
                        </a:rPr>
                        <a:t>(Gbit/s)</a:t>
                      </a:r>
                      <a:endParaRPr/>
                    </a:p>
                  </a:txBody>
                  <a:tcPr marL="91425" marR="91425" marT="91425" marB="91425"/>
                </a:tc>
                <a:tc>
                  <a:txBody>
                    <a:bodyPr/>
                    <a:lstStyle/>
                    <a:p>
                      <a:pPr marL="0" lvl="0" indent="0" algn="l" rtl="0">
                        <a:spcBef>
                          <a:spcPts val="0"/>
                        </a:spcBef>
                        <a:spcAft>
                          <a:spcPts val="0"/>
                        </a:spcAft>
                        <a:buNone/>
                      </a:pPr>
                      <a:r>
                        <a:rPr lang="it"/>
                        <a:t>4 tunnels Aggregated</a:t>
                      </a:r>
                      <a:br>
                        <a:rPr lang="it"/>
                      </a:br>
                      <a:r>
                        <a:rPr lang="it"/>
                        <a:t>Throughput </a:t>
                      </a:r>
                      <a:r>
                        <a:rPr lang="it">
                          <a:solidFill>
                            <a:schemeClr val="dk1"/>
                          </a:solidFill>
                        </a:rPr>
                        <a:t>(Gbit/s)</a:t>
                      </a:r>
                      <a:endParaRPr/>
                    </a:p>
                  </a:txBody>
                  <a:tcPr marL="91425" marR="91425" marT="91425" marB="91425"/>
                </a:tc>
                <a:extLst>
                  <a:ext uri="{0D108BD9-81ED-4DB2-BD59-A6C34878D82A}">
                    <a16:rowId xmlns:a16="http://schemas.microsoft.com/office/drawing/2014/main" val="10000"/>
                  </a:ext>
                </a:extLst>
              </a:tr>
              <a:tr h="302225">
                <a:tc>
                  <a:txBody>
                    <a:bodyPr/>
                    <a:lstStyle/>
                    <a:p>
                      <a:pPr marL="0" lvl="0" indent="0" algn="l" rtl="0">
                        <a:spcBef>
                          <a:spcPts val="0"/>
                        </a:spcBef>
                        <a:spcAft>
                          <a:spcPts val="0"/>
                        </a:spcAft>
                        <a:buNone/>
                      </a:pPr>
                      <a:r>
                        <a:rPr lang="it"/>
                        <a:t>1 iperf3 Flow</a:t>
                      </a:r>
                      <a:endParaRPr/>
                    </a:p>
                  </a:txBody>
                  <a:tcPr marL="91425" marR="91425" marT="91425" marB="91425"/>
                </a:tc>
                <a:tc>
                  <a:txBody>
                    <a:bodyPr/>
                    <a:lstStyle/>
                    <a:p>
                      <a:pPr marL="0" lvl="0" indent="0" algn="l" rtl="0">
                        <a:spcBef>
                          <a:spcPts val="0"/>
                        </a:spcBef>
                        <a:spcAft>
                          <a:spcPts val="0"/>
                        </a:spcAft>
                        <a:buNone/>
                      </a:pPr>
                      <a:r>
                        <a:rPr lang="it"/>
                        <a:t>1.26</a:t>
                      </a:r>
                      <a:endParaRPr/>
                    </a:p>
                  </a:txBody>
                  <a:tcPr marL="91425" marR="91425" marT="91425" marB="91425"/>
                </a:tc>
                <a:tc>
                  <a:txBody>
                    <a:bodyPr/>
                    <a:lstStyle/>
                    <a:p>
                      <a:pPr marL="0" lvl="0" indent="0" algn="l" rtl="0">
                        <a:spcBef>
                          <a:spcPts val="0"/>
                        </a:spcBef>
                        <a:spcAft>
                          <a:spcPts val="0"/>
                        </a:spcAft>
                        <a:buNone/>
                      </a:pPr>
                      <a:r>
                        <a:rPr lang="it"/>
                        <a:t>1.29</a:t>
                      </a:r>
                      <a:endParaRPr/>
                    </a:p>
                  </a:txBody>
                  <a:tcPr marL="91425" marR="91425" marT="91425" marB="91425"/>
                </a:tc>
                <a:tc>
                  <a:txBody>
                    <a:bodyPr/>
                    <a:lstStyle/>
                    <a:p>
                      <a:pPr marL="0" lvl="0" indent="0" algn="l" rtl="0">
                        <a:spcBef>
                          <a:spcPts val="0"/>
                        </a:spcBef>
                        <a:spcAft>
                          <a:spcPts val="0"/>
                        </a:spcAft>
                        <a:buNone/>
                      </a:pPr>
                      <a:r>
                        <a:rPr lang="it"/>
                        <a:t>1.28</a:t>
                      </a:r>
                      <a:endParaRPr/>
                    </a:p>
                  </a:txBody>
                  <a:tcPr marL="91425" marR="91425" marT="91425" marB="91425"/>
                </a:tc>
                <a:extLst>
                  <a:ext uri="{0D108BD9-81ED-4DB2-BD59-A6C34878D82A}">
                    <a16:rowId xmlns:a16="http://schemas.microsoft.com/office/drawing/2014/main" val="10001"/>
                  </a:ext>
                </a:extLst>
              </a:tr>
              <a:tr h="302225">
                <a:tc>
                  <a:txBody>
                    <a:bodyPr/>
                    <a:lstStyle/>
                    <a:p>
                      <a:pPr marL="0" lvl="0" indent="0" algn="l" rtl="0">
                        <a:spcBef>
                          <a:spcPts val="0"/>
                        </a:spcBef>
                        <a:spcAft>
                          <a:spcPts val="0"/>
                        </a:spcAft>
                        <a:buNone/>
                      </a:pPr>
                      <a:r>
                        <a:rPr lang="it"/>
                        <a:t>2 iperf3 Flows</a:t>
                      </a:r>
                      <a:endParaRPr/>
                    </a:p>
                  </a:txBody>
                  <a:tcPr marL="91425" marR="91425" marT="91425" marB="91425"/>
                </a:tc>
                <a:tc>
                  <a:txBody>
                    <a:bodyPr/>
                    <a:lstStyle/>
                    <a:p>
                      <a:pPr marL="0" lvl="0" indent="0" algn="l" rtl="0">
                        <a:spcBef>
                          <a:spcPts val="0"/>
                        </a:spcBef>
                        <a:spcAft>
                          <a:spcPts val="0"/>
                        </a:spcAft>
                        <a:buNone/>
                      </a:pPr>
                      <a:r>
                        <a:rPr lang="it"/>
                        <a:t>1.24</a:t>
                      </a:r>
                      <a:endParaRPr/>
                    </a:p>
                  </a:txBody>
                  <a:tcPr marL="91425" marR="91425" marT="91425" marB="91425"/>
                </a:tc>
                <a:tc>
                  <a:txBody>
                    <a:bodyPr/>
                    <a:lstStyle/>
                    <a:p>
                      <a:pPr marL="0" lvl="0" indent="0" algn="l" rtl="0">
                        <a:spcBef>
                          <a:spcPts val="0"/>
                        </a:spcBef>
                        <a:spcAft>
                          <a:spcPts val="0"/>
                        </a:spcAft>
                        <a:buNone/>
                      </a:pPr>
                      <a:r>
                        <a:rPr lang="it"/>
                        <a:t>1.28</a:t>
                      </a:r>
                      <a:endParaRPr/>
                    </a:p>
                  </a:txBody>
                  <a:tcPr marL="91425" marR="91425" marT="91425" marB="91425"/>
                </a:tc>
                <a:tc>
                  <a:txBody>
                    <a:bodyPr/>
                    <a:lstStyle/>
                    <a:p>
                      <a:pPr marL="0" lvl="0" indent="0" algn="l" rtl="0">
                        <a:spcBef>
                          <a:spcPts val="0"/>
                        </a:spcBef>
                        <a:spcAft>
                          <a:spcPts val="0"/>
                        </a:spcAft>
                        <a:buNone/>
                      </a:pPr>
                      <a:r>
                        <a:rPr lang="it"/>
                        <a:t>1.97</a:t>
                      </a:r>
                      <a:endParaRPr/>
                    </a:p>
                  </a:txBody>
                  <a:tcPr marL="91425" marR="91425" marT="91425" marB="91425"/>
                </a:tc>
                <a:extLst>
                  <a:ext uri="{0D108BD9-81ED-4DB2-BD59-A6C34878D82A}">
                    <a16:rowId xmlns:a16="http://schemas.microsoft.com/office/drawing/2014/main" val="10002"/>
                  </a:ext>
                </a:extLst>
              </a:tr>
              <a:tr h="302225">
                <a:tc>
                  <a:txBody>
                    <a:bodyPr/>
                    <a:lstStyle/>
                    <a:p>
                      <a:pPr marL="0" lvl="0" indent="0" algn="l" rtl="0">
                        <a:spcBef>
                          <a:spcPts val="0"/>
                        </a:spcBef>
                        <a:spcAft>
                          <a:spcPts val="0"/>
                        </a:spcAft>
                        <a:buNone/>
                      </a:pPr>
                      <a:r>
                        <a:rPr lang="it"/>
                        <a:t>4 iperf3 Flows</a:t>
                      </a:r>
                      <a:endParaRPr/>
                    </a:p>
                  </a:txBody>
                  <a:tcPr marL="91425" marR="91425" marT="91425" marB="91425"/>
                </a:tc>
                <a:tc>
                  <a:txBody>
                    <a:bodyPr/>
                    <a:lstStyle/>
                    <a:p>
                      <a:pPr marL="0" lvl="0" indent="0" algn="l" rtl="0">
                        <a:spcBef>
                          <a:spcPts val="0"/>
                        </a:spcBef>
                        <a:spcAft>
                          <a:spcPts val="0"/>
                        </a:spcAft>
                        <a:buNone/>
                      </a:pPr>
                      <a:r>
                        <a:rPr lang="it"/>
                        <a:t>1.24</a:t>
                      </a:r>
                      <a:endParaRPr/>
                    </a:p>
                  </a:txBody>
                  <a:tcPr marL="91425" marR="91425" marT="91425" marB="91425"/>
                </a:tc>
                <a:tc>
                  <a:txBody>
                    <a:bodyPr/>
                    <a:lstStyle/>
                    <a:p>
                      <a:pPr marL="0" lvl="0" indent="0" algn="l" rtl="0">
                        <a:spcBef>
                          <a:spcPts val="0"/>
                        </a:spcBef>
                        <a:spcAft>
                          <a:spcPts val="0"/>
                        </a:spcAft>
                        <a:buNone/>
                      </a:pPr>
                      <a:r>
                        <a:rPr lang="it"/>
                        <a:t>2.43</a:t>
                      </a:r>
                      <a:endParaRPr/>
                    </a:p>
                  </a:txBody>
                  <a:tcPr marL="91425" marR="91425" marT="91425" marB="91425"/>
                </a:tc>
                <a:tc>
                  <a:txBody>
                    <a:bodyPr/>
                    <a:lstStyle/>
                    <a:p>
                      <a:pPr marL="0" lvl="0" indent="0" algn="l" rtl="0">
                        <a:spcBef>
                          <a:spcPts val="0"/>
                        </a:spcBef>
                        <a:spcAft>
                          <a:spcPts val="0"/>
                        </a:spcAft>
                        <a:buNone/>
                      </a:pPr>
                      <a:r>
                        <a:rPr lang="it"/>
                        <a:t>2.87</a:t>
                      </a:r>
                      <a:endParaRPr/>
                    </a:p>
                  </a:txBody>
                  <a:tcPr marL="91425" marR="91425" marT="91425" marB="91425"/>
                </a:tc>
                <a:extLst>
                  <a:ext uri="{0D108BD9-81ED-4DB2-BD59-A6C34878D82A}">
                    <a16:rowId xmlns:a16="http://schemas.microsoft.com/office/drawing/2014/main" val="10003"/>
                  </a:ext>
                </a:extLst>
              </a:tr>
              <a:tr h="302225">
                <a:tc>
                  <a:txBody>
                    <a:bodyPr/>
                    <a:lstStyle/>
                    <a:p>
                      <a:pPr marL="0" lvl="0" indent="0" algn="l" rtl="0">
                        <a:spcBef>
                          <a:spcPts val="0"/>
                        </a:spcBef>
                        <a:spcAft>
                          <a:spcPts val="0"/>
                        </a:spcAft>
                        <a:buNone/>
                      </a:pPr>
                      <a:r>
                        <a:rPr lang="it"/>
                        <a:t>8 iperf3 Flows</a:t>
                      </a:r>
                      <a:endParaRPr/>
                    </a:p>
                  </a:txBody>
                  <a:tcPr marL="91425" marR="91425" marT="91425" marB="91425"/>
                </a:tc>
                <a:tc>
                  <a:txBody>
                    <a:bodyPr/>
                    <a:lstStyle/>
                    <a:p>
                      <a:pPr marL="0" lvl="0" indent="0" algn="l" rtl="0">
                        <a:spcBef>
                          <a:spcPts val="0"/>
                        </a:spcBef>
                        <a:spcAft>
                          <a:spcPts val="0"/>
                        </a:spcAft>
                        <a:buNone/>
                      </a:pPr>
                      <a:r>
                        <a:rPr lang="it"/>
                        <a:t>1.25</a:t>
                      </a:r>
                      <a:endParaRPr/>
                    </a:p>
                  </a:txBody>
                  <a:tcPr marL="91425" marR="91425" marT="91425" marB="91425"/>
                </a:tc>
                <a:tc>
                  <a:txBody>
                    <a:bodyPr/>
                    <a:lstStyle/>
                    <a:p>
                      <a:pPr marL="0" lvl="0" indent="0" algn="l" rtl="0">
                        <a:spcBef>
                          <a:spcPts val="0"/>
                        </a:spcBef>
                        <a:spcAft>
                          <a:spcPts val="0"/>
                        </a:spcAft>
                        <a:buNone/>
                      </a:pPr>
                      <a:r>
                        <a:rPr lang="it"/>
                        <a:t>2.39</a:t>
                      </a:r>
                      <a:endParaRPr/>
                    </a:p>
                  </a:txBody>
                  <a:tcPr marL="91425" marR="91425" marT="91425" marB="91425"/>
                </a:tc>
                <a:tc>
                  <a:txBody>
                    <a:bodyPr/>
                    <a:lstStyle/>
                    <a:p>
                      <a:pPr marL="0" lvl="0" indent="0" algn="l" rtl="0">
                        <a:spcBef>
                          <a:spcPts val="0"/>
                        </a:spcBef>
                        <a:spcAft>
                          <a:spcPts val="0"/>
                        </a:spcAft>
                        <a:buNone/>
                      </a:pPr>
                      <a:r>
                        <a:rPr lang="it"/>
                        <a:t>4.11</a:t>
                      </a:r>
                      <a:endParaRPr/>
                    </a:p>
                  </a:txBody>
                  <a:tcPr marL="91425" marR="91425" marT="91425" marB="91425"/>
                </a:tc>
                <a:extLst>
                  <a:ext uri="{0D108BD9-81ED-4DB2-BD59-A6C34878D82A}">
                    <a16:rowId xmlns:a16="http://schemas.microsoft.com/office/drawing/2014/main" val="10004"/>
                  </a:ext>
                </a:extLst>
              </a:tr>
              <a:tr h="302225">
                <a:tc>
                  <a:txBody>
                    <a:bodyPr/>
                    <a:lstStyle/>
                    <a:p>
                      <a:pPr marL="0" lvl="0" indent="0" algn="l" rtl="0">
                        <a:spcBef>
                          <a:spcPts val="0"/>
                        </a:spcBef>
                        <a:spcAft>
                          <a:spcPts val="0"/>
                        </a:spcAft>
                        <a:buNone/>
                      </a:pPr>
                      <a:r>
                        <a:rPr lang="it"/>
                        <a:t>16 iperf3  Flows</a:t>
                      </a:r>
                      <a:endParaRPr/>
                    </a:p>
                  </a:txBody>
                  <a:tcPr marL="91425" marR="91425" marT="91425" marB="91425"/>
                </a:tc>
                <a:tc>
                  <a:txBody>
                    <a:bodyPr/>
                    <a:lstStyle/>
                    <a:p>
                      <a:pPr marL="0" lvl="0" indent="0" algn="l" rtl="0">
                        <a:spcBef>
                          <a:spcPts val="0"/>
                        </a:spcBef>
                        <a:spcAft>
                          <a:spcPts val="0"/>
                        </a:spcAft>
                        <a:buNone/>
                      </a:pPr>
                      <a:r>
                        <a:rPr lang="it"/>
                        <a:t>1.24</a:t>
                      </a:r>
                      <a:endParaRPr/>
                    </a:p>
                  </a:txBody>
                  <a:tcPr marL="91425" marR="91425" marT="91425" marB="91425"/>
                </a:tc>
                <a:tc>
                  <a:txBody>
                    <a:bodyPr/>
                    <a:lstStyle/>
                    <a:p>
                      <a:pPr marL="0" lvl="0" indent="0" algn="l" rtl="0">
                        <a:spcBef>
                          <a:spcPts val="0"/>
                        </a:spcBef>
                        <a:spcAft>
                          <a:spcPts val="0"/>
                        </a:spcAft>
                        <a:buNone/>
                      </a:pPr>
                      <a:r>
                        <a:rPr lang="it"/>
                        <a:t>2.42</a:t>
                      </a:r>
                      <a:endParaRPr/>
                    </a:p>
                  </a:txBody>
                  <a:tcPr marL="91425" marR="91425" marT="91425" marB="91425"/>
                </a:tc>
                <a:tc>
                  <a:txBody>
                    <a:bodyPr/>
                    <a:lstStyle/>
                    <a:p>
                      <a:pPr marL="0" lvl="0" indent="0" algn="l" rtl="0">
                        <a:spcBef>
                          <a:spcPts val="0"/>
                        </a:spcBef>
                        <a:spcAft>
                          <a:spcPts val="0"/>
                        </a:spcAft>
                        <a:buNone/>
                      </a:pPr>
                      <a:r>
                        <a:rPr lang="it"/>
                        <a:t>4.45</a:t>
                      </a:r>
                      <a:endParaRPr/>
                    </a:p>
                  </a:txBody>
                  <a:tcPr marL="91425" marR="91425" marT="91425" marB="91425"/>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8"/>
          <p:cNvSpPr txBox="1">
            <a:spLocks noGrp="1"/>
          </p:cNvSpPr>
          <p:nvPr>
            <p:ph type="title"/>
          </p:nvPr>
        </p:nvSpPr>
        <p:spPr>
          <a:xfrm>
            <a:off x="259650" y="10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
              <a:t>Final Results - Automated Implementation</a:t>
            </a:r>
            <a:endParaRPr/>
          </a:p>
        </p:txBody>
      </p:sp>
      <p:sp>
        <p:nvSpPr>
          <p:cNvPr id="86" name="Google Shape;86;p18"/>
          <p:cNvSpPr txBox="1">
            <a:spLocks noGrp="1"/>
          </p:cNvSpPr>
          <p:nvPr>
            <p:ph type="body" idx="1"/>
          </p:nvPr>
        </p:nvSpPr>
        <p:spPr>
          <a:xfrm>
            <a:off x="352200" y="5739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Clr>
                <a:schemeClr val="dk1"/>
              </a:buClr>
              <a:buSzPts val="1100"/>
              <a:buFont typeface="Arial"/>
              <a:buNone/>
            </a:pPr>
            <a:r>
              <a:rPr lang="it"/>
              <a:t>Tests conducted under the same conditions as the preliminary phase</a:t>
            </a:r>
            <a:endParaRPr/>
          </a:p>
        </p:txBody>
      </p:sp>
      <p:pic>
        <p:nvPicPr>
          <p:cNvPr id="87" name="Google Shape;87;p18"/>
          <p:cNvPicPr preferRelativeResize="0"/>
          <p:nvPr/>
        </p:nvPicPr>
        <p:blipFill>
          <a:blip r:embed="rId3">
            <a:alphaModFix/>
          </a:blip>
          <a:stretch>
            <a:fillRect/>
          </a:stretch>
        </p:blipFill>
        <p:spPr>
          <a:xfrm>
            <a:off x="945000" y="965675"/>
            <a:ext cx="6463001" cy="40928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Implementation: High-Level Steps</a:t>
            </a:r>
            <a:endParaRPr/>
          </a:p>
        </p:txBody>
      </p:sp>
      <p:sp>
        <p:nvSpPr>
          <p:cNvPr id="93" name="Google Shape;93;p19"/>
          <p:cNvSpPr txBox="1">
            <a:spLocks noGrp="1"/>
          </p:cNvSpPr>
          <p:nvPr>
            <p:ph type="body" idx="1"/>
          </p:nvPr>
        </p:nvSpPr>
        <p:spPr>
          <a:xfrm>
            <a:off x="311700" y="1152475"/>
            <a:ext cx="8520600" cy="3845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it"/>
              <a:t>Modify the gateway to create and configure an arbitrary number of Wireguard interfaces</a:t>
            </a:r>
            <a:endParaRPr/>
          </a:p>
          <a:p>
            <a:pPr marL="914400" lvl="1" indent="-317500" algn="l" rtl="0">
              <a:spcBef>
                <a:spcPts val="0"/>
              </a:spcBef>
              <a:spcAft>
                <a:spcPts val="0"/>
              </a:spcAft>
              <a:buSzPts val="1400"/>
              <a:buAutoNum type="alphaLcPeriod"/>
            </a:pPr>
            <a:r>
              <a:rPr lang="it"/>
              <a:t>The existing keypair can be reused for all interfaces</a:t>
            </a:r>
            <a:endParaRPr/>
          </a:p>
          <a:p>
            <a:pPr marL="914400" lvl="1" indent="-317500" algn="l" rtl="0">
              <a:spcBef>
                <a:spcPts val="0"/>
              </a:spcBef>
              <a:spcAft>
                <a:spcPts val="0"/>
              </a:spcAft>
              <a:buSzPts val="1400"/>
              <a:buAutoNum type="alphaLcPeriod"/>
            </a:pPr>
            <a:r>
              <a:rPr lang="it"/>
              <a:t>Server interfaces can be exposed by adding their ports to the existing service</a:t>
            </a:r>
            <a:endParaRPr/>
          </a:p>
          <a:p>
            <a:pPr marL="914400" lvl="1" indent="-317500" algn="l" rtl="0">
              <a:spcBef>
                <a:spcPts val="0"/>
              </a:spcBef>
              <a:spcAft>
                <a:spcPts val="0"/>
              </a:spcAft>
              <a:buSzPts val="1400"/>
              <a:buAutoNum type="alphaLcPeriod"/>
            </a:pPr>
            <a:r>
              <a:rPr lang="it"/>
              <a:t>Only the number of desired interfaces and their associated ports (listenports, endpointports) need to be declared in the </a:t>
            </a:r>
            <a:r>
              <a:rPr lang="it" i="1"/>
              <a:t>GatewayClient</a:t>
            </a:r>
            <a:r>
              <a:rPr lang="it"/>
              <a:t> and </a:t>
            </a:r>
            <a:r>
              <a:rPr lang="it" i="1"/>
              <a:t>GatewayServer</a:t>
            </a:r>
            <a:r>
              <a:rPr lang="it"/>
              <a:t> CRD</a:t>
            </a:r>
            <a:endParaRPr/>
          </a:p>
          <a:p>
            <a:pPr marL="457200" lvl="0" indent="-342900" algn="l" rtl="0">
              <a:spcBef>
                <a:spcPts val="0"/>
              </a:spcBef>
              <a:spcAft>
                <a:spcPts val="0"/>
              </a:spcAft>
              <a:buSzPts val="1800"/>
              <a:buAutoNum type="arabicPeriod"/>
            </a:pPr>
            <a:r>
              <a:rPr lang="it"/>
              <a:t>Extend routes and NAT rules inside the gateway</a:t>
            </a:r>
            <a:endParaRPr/>
          </a:p>
          <a:p>
            <a:pPr marL="914400" lvl="1" indent="-317500" algn="l" rtl="0">
              <a:spcBef>
                <a:spcPts val="0"/>
              </a:spcBef>
              <a:spcAft>
                <a:spcPts val="0"/>
              </a:spcAft>
              <a:buSzPts val="1400"/>
              <a:buAutoNum type="alphaLcPeriod"/>
            </a:pPr>
            <a:r>
              <a:rPr lang="it"/>
              <a:t>Update RouteConfigurations </a:t>
            </a:r>
            <a:r>
              <a:rPr lang="it" i="1"/>
              <a:t>gw-ext</a:t>
            </a:r>
            <a:r>
              <a:rPr lang="it"/>
              <a:t> to include the new interfaces (next-hops)</a:t>
            </a:r>
            <a:endParaRPr/>
          </a:p>
          <a:p>
            <a:pPr marL="914400" lvl="1" indent="-317500" algn="l" rtl="0">
              <a:spcBef>
                <a:spcPts val="0"/>
              </a:spcBef>
              <a:spcAft>
                <a:spcPts val="0"/>
              </a:spcAft>
              <a:buSzPts val="1400"/>
              <a:buAutoNum type="alphaLcPeriod"/>
            </a:pPr>
            <a:r>
              <a:rPr lang="it"/>
              <a:t>ECMP is the simpler choice to load balance the traffic</a:t>
            </a:r>
            <a:endParaRPr/>
          </a:p>
          <a:p>
            <a:pPr marL="914400" lvl="1" indent="-317500" algn="l" rtl="0">
              <a:spcBef>
                <a:spcPts val="0"/>
              </a:spcBef>
              <a:spcAft>
                <a:spcPts val="0"/>
              </a:spcAft>
              <a:buSzPts val="1400"/>
              <a:buAutoNum type="alphaLcPeriod"/>
            </a:pPr>
            <a:r>
              <a:rPr lang="it"/>
              <a:t>Other Route and Firewall configurations involving WireGuard interfaces are left unchanged: they are expanded internally by the gateway based on the interface count</a:t>
            </a:r>
            <a:endParaRPr/>
          </a:p>
          <a:p>
            <a:pPr marL="0" lvl="0" indent="0" algn="l" rtl="0">
              <a:spcBef>
                <a:spcPts val="1200"/>
              </a:spcBef>
              <a:spcAft>
                <a:spcPts val="1200"/>
              </a:spcAft>
              <a:buNone/>
            </a:pPr>
            <a:r>
              <a:rPr lang="it"/>
              <a:t>More details in the PoC:</a:t>
            </a:r>
            <a:br>
              <a:rPr lang="it"/>
            </a:br>
            <a:r>
              <a:rPr lang="it" u="sng">
                <a:solidFill>
                  <a:schemeClr val="accent5"/>
                </a:solidFill>
                <a:hlinkClick r:id="rId3">
                  <a:extLst>
                    <a:ext uri="{A12FA001-AC4F-418D-AE19-62706E023703}">
                      <ahyp:hlinkClr xmlns:ahyp="http://schemas.microsoft.com/office/drawing/2018/hyperlinkcolor" val="tx"/>
                    </a:ext>
                  </a:extLst>
                </a:hlinkClick>
              </a:rPr>
              <a:t>https://github.com/MircoBarone/liqo/tree/multi-tunnel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Shape 97"/>
        <p:cNvGrpSpPr/>
        <p:nvPr/>
      </p:nvGrpSpPr>
      <p:grpSpPr>
        <a:xfrm>
          <a:off x="0" y="0"/>
          <a:ext cx="0" cy="0"/>
          <a:chOff x="0" y="0"/>
          <a:chExt cx="0" cy="0"/>
        </a:xfrm>
      </p:grpSpPr>
      <p:sp>
        <p:nvSpPr>
          <p:cNvPr id="98" name="Google Shape;98;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it"/>
              <a:t>Implementation: Current State</a:t>
            </a:r>
            <a:endParaRPr/>
          </a:p>
        </p:txBody>
      </p:sp>
      <p:sp>
        <p:nvSpPr>
          <p:cNvPr id="99" name="Google Shape;99;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Liqo has been enhanced to support the creation of an arbitrary number of interfaces in each gateway:</a:t>
            </a:r>
            <a:endParaRPr/>
          </a:p>
          <a:p>
            <a:pPr marL="914400" lvl="1" indent="-317500" algn="l" rtl="0">
              <a:spcBef>
                <a:spcPts val="0"/>
              </a:spcBef>
              <a:spcAft>
                <a:spcPts val="0"/>
              </a:spcAft>
              <a:buSzPts val="1400"/>
              <a:buChar char="○"/>
            </a:pPr>
            <a:r>
              <a:rPr lang="it"/>
              <a:t>This means that only the number of desired interfaces and their associated ports (listenports, endpointports) need to be declared in the GatewayClient GatewayServer CRDs</a:t>
            </a:r>
            <a:endParaRPr/>
          </a:p>
          <a:p>
            <a:pPr marL="457200" lvl="0" indent="-342900" algn="l" rtl="0">
              <a:spcBef>
                <a:spcPts val="0"/>
              </a:spcBef>
              <a:spcAft>
                <a:spcPts val="0"/>
              </a:spcAft>
              <a:buSzPts val="1800"/>
              <a:buChar char="●"/>
            </a:pPr>
            <a:r>
              <a:rPr lang="it"/>
              <a:t>Routing rules have been updated</a:t>
            </a:r>
            <a:endParaRPr/>
          </a:p>
          <a:p>
            <a:pPr marL="914400" lvl="1" indent="-317500" algn="l" rtl="0">
              <a:spcBef>
                <a:spcPts val="0"/>
              </a:spcBef>
              <a:spcAft>
                <a:spcPts val="0"/>
              </a:spcAft>
              <a:buSzPts val="1400"/>
              <a:buChar char="○"/>
            </a:pPr>
            <a:r>
              <a:rPr lang="it"/>
              <a:t>In particular the syntax the RouteConfigurations &lt;remote-cluster-id&gt;-gw-ext to support ECMP</a:t>
            </a:r>
            <a:endParaRPr/>
          </a:p>
          <a:p>
            <a:pPr marL="457200" lvl="0" indent="-342900" algn="l" rtl="0">
              <a:spcBef>
                <a:spcPts val="0"/>
              </a:spcBef>
              <a:spcAft>
                <a:spcPts val="0"/>
              </a:spcAft>
              <a:buSzPts val="1800"/>
              <a:buChar char="●"/>
            </a:pPr>
            <a:r>
              <a:rPr lang="it"/>
              <a:t>Firewall rules still need to be extended</a:t>
            </a:r>
            <a:endParaRPr/>
          </a:p>
          <a:p>
            <a:pPr marL="457200" lvl="0" indent="-342900" algn="l" rtl="0">
              <a:spcBef>
                <a:spcPts val="0"/>
              </a:spcBef>
              <a:spcAft>
                <a:spcPts val="0"/>
              </a:spcAft>
              <a:buSzPts val="1800"/>
              <a:buChar char="●"/>
            </a:pPr>
            <a:r>
              <a:rPr lang="it"/>
              <a:t>More details in the PoC:</a:t>
            </a:r>
            <a:br>
              <a:rPr lang="it"/>
            </a:br>
            <a:r>
              <a:rPr lang="it" u="sng">
                <a:solidFill>
                  <a:schemeClr val="hlink"/>
                </a:solidFill>
                <a:hlinkClick r:id="rId3"/>
              </a:rPr>
              <a:t>https://github.com/MircoBarone/liqo/tree/multi-tunnel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it"/>
              <a:t>IMPLEMENTAZIONE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Parametri aggiunti</a:t>
            </a:r>
            <a:endParaRPr/>
          </a:p>
        </p:txBody>
      </p:sp>
      <p:sp>
        <p:nvSpPr>
          <p:cNvPr id="110" name="Google Shape;110;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it" b="1"/>
              <a:t>Container Gateway:</a:t>
            </a:r>
            <a:br>
              <a:rPr lang="it"/>
            </a:br>
            <a:r>
              <a:rPr lang="it" i="1"/>
              <a:t>--enable-ecmp</a:t>
            </a:r>
            <a:br>
              <a:rPr lang="it"/>
            </a:br>
            <a:r>
              <a:rPr lang="it" b="1"/>
              <a:t>Container Wireguard</a:t>
            </a:r>
            <a:r>
              <a:rPr lang="it"/>
              <a:t>:</a:t>
            </a:r>
            <a:br>
              <a:rPr lang="it"/>
            </a:br>
            <a:r>
              <a:rPr lang="it" i="1"/>
              <a:t>--interface-number</a:t>
            </a:r>
            <a:br>
              <a:rPr lang="it" b="1"/>
            </a:br>
            <a:r>
              <a:rPr lang="it" i="1"/>
              <a:t>--endpoint-port </a:t>
            </a:r>
            <a:r>
              <a:rPr lang="it"/>
              <a:t>(Supporto esteso a N porte sul client)</a:t>
            </a:r>
            <a:br>
              <a:rPr lang="it"/>
            </a:br>
            <a:r>
              <a:rPr lang="it" i="1"/>
              <a:t>--listen-port   </a:t>
            </a:r>
            <a:r>
              <a:rPr lang="it"/>
              <a:t>(Supporto esteso a N porte sul server)</a:t>
            </a:r>
            <a:br>
              <a:rPr lang="it"/>
            </a:br>
            <a:br>
              <a:rPr lang="it"/>
            </a:b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it"/>
              <a:t>GatewayClient /Gateway Server</a:t>
            </a:r>
            <a:endParaRPr/>
          </a:p>
        </p:txBody>
      </p:sp>
      <p:sp>
        <p:nvSpPr>
          <p:cNvPr id="116" name="Google Shape;116;p23"/>
          <p:cNvSpPr txBox="1"/>
          <p:nvPr/>
        </p:nvSpPr>
        <p:spPr>
          <a:xfrm>
            <a:off x="0" y="2922650"/>
            <a:ext cx="9180000" cy="1293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800">
                <a:solidFill>
                  <a:schemeClr val="dk2"/>
                </a:solidFill>
              </a:rPr>
              <a:t>Commit : </a:t>
            </a:r>
            <a:r>
              <a:rPr lang="it" sz="1800" b="1">
                <a:solidFill>
                  <a:srgbClr val="1F2328"/>
                </a:solidFill>
                <a:highlight>
                  <a:srgbClr val="F6F8FA"/>
                </a:highlight>
                <a:latin typeface="Courier New"/>
                <a:ea typeface="Courier New"/>
                <a:cs typeface="Courier New"/>
                <a:sym typeface="Courier New"/>
              </a:rPr>
              <a:t>f4eb8d7, 97cd596, 224eb10, 4247b3c</a:t>
            </a: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GatewayClient</a:t>
            </a:r>
            <a:endParaRPr/>
          </a:p>
        </p:txBody>
      </p:sp>
      <p:sp>
        <p:nvSpPr>
          <p:cNvPr id="122" name="Google Shape;122;p24"/>
          <p:cNvSpPr txBox="1">
            <a:spLocks noGrp="1"/>
          </p:cNvSpPr>
          <p:nvPr>
            <p:ph type="body" idx="1"/>
          </p:nvPr>
        </p:nvSpPr>
        <p:spPr>
          <a:xfrm>
            <a:off x="311700" y="1152475"/>
            <a:ext cx="5997300" cy="36642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SzPts val="1800"/>
              <a:buChar char="●"/>
            </a:pPr>
            <a:r>
              <a:rPr lang="it"/>
              <a:t>Aggiunto il campo </a:t>
            </a:r>
            <a:r>
              <a:rPr lang="it" b="1"/>
              <a:t>endpoint.otherPorts </a:t>
            </a:r>
            <a:r>
              <a:rPr lang="it"/>
              <a:t>(</a:t>
            </a:r>
            <a:r>
              <a:rPr lang="it" i="1"/>
              <a:t>struct EndpointStatus</a:t>
            </a:r>
            <a:r>
              <a:rPr lang="it"/>
              <a:t>) che riporta le porte utilizzate dal Service per esporre le interfacce remote sul server</a:t>
            </a:r>
            <a:endParaRPr/>
          </a:p>
          <a:p>
            <a:pPr marL="914400" lvl="1" indent="-317500" algn="l" rtl="0">
              <a:spcBef>
                <a:spcPts val="0"/>
              </a:spcBef>
              <a:spcAft>
                <a:spcPts val="0"/>
              </a:spcAft>
              <a:buSzPts val="1400"/>
              <a:buChar char="○"/>
            </a:pPr>
            <a:r>
              <a:rPr lang="it" i="1"/>
              <a:t>Il campo endpoint.port viene mantenuto per retrocompatibilità</a:t>
            </a:r>
            <a:endParaRPr i="1"/>
          </a:p>
          <a:p>
            <a:pPr marL="914400" lvl="1" indent="-317500" algn="l" rtl="0">
              <a:spcBef>
                <a:spcPts val="0"/>
              </a:spcBef>
              <a:spcAft>
                <a:spcPts val="0"/>
              </a:spcAft>
              <a:buSzPts val="1400"/>
              <a:buChar char="○"/>
            </a:pPr>
            <a:r>
              <a:rPr lang="it"/>
              <a:t>Tramite un opportuno template i valori possono essere accodati nel parametro --</a:t>
            </a:r>
            <a:r>
              <a:rPr lang="it" i="1"/>
              <a:t>endpoint-port</a:t>
            </a:r>
            <a:r>
              <a:rPr lang="it"/>
              <a:t> del container wireguard che li utilizzerà per configurare gli endpoint delle interfacce del client</a:t>
            </a:r>
            <a:endParaRPr/>
          </a:p>
          <a:p>
            <a:pPr marL="457200" lvl="0" indent="-342900" algn="l" rtl="0">
              <a:spcBef>
                <a:spcPts val="0"/>
              </a:spcBef>
              <a:spcAft>
                <a:spcPts val="0"/>
              </a:spcAft>
              <a:buSzPts val="1800"/>
              <a:buChar char="●"/>
            </a:pPr>
            <a:r>
              <a:rPr lang="it"/>
              <a:t>Aggiunto un parametro numInterfaces (default=1) che indica il numero di interfacce da creare</a:t>
            </a:r>
            <a:endParaRPr/>
          </a:p>
          <a:p>
            <a:pPr marL="914400" lvl="1" indent="-317500" algn="l" rtl="0">
              <a:spcBef>
                <a:spcPts val="0"/>
              </a:spcBef>
              <a:spcAft>
                <a:spcPts val="0"/>
              </a:spcAft>
              <a:buSzPts val="1400"/>
              <a:buChar char="○"/>
            </a:pPr>
            <a:r>
              <a:rPr lang="it" i="1"/>
              <a:t>Viene scritto nel campo numInterfaces della crd WgGatewayClient (opportunamente estesa)</a:t>
            </a:r>
            <a:endParaRPr i="1"/>
          </a:p>
          <a:p>
            <a:pPr marL="914400" lvl="1" indent="-317500" algn="l" rtl="0">
              <a:spcBef>
                <a:spcPts val="0"/>
              </a:spcBef>
              <a:spcAft>
                <a:spcPts val="0"/>
              </a:spcAft>
              <a:buSzPts val="1400"/>
              <a:buChar char="○"/>
            </a:pPr>
            <a:r>
              <a:rPr lang="it"/>
              <a:t>Viene passato (tramite template) al comando </a:t>
            </a:r>
            <a:r>
              <a:rPr lang="it" i="1"/>
              <a:t>interface-number</a:t>
            </a:r>
            <a:r>
              <a:rPr lang="it"/>
              <a:t> (wireguard container) e se &gt;1 il comando </a:t>
            </a:r>
            <a:r>
              <a:rPr lang="it" i="1"/>
              <a:t>enable-ecmp</a:t>
            </a:r>
            <a:r>
              <a:rPr lang="it"/>
              <a:t> si setta a true (gateway container)</a:t>
            </a:r>
            <a:endParaRPr/>
          </a:p>
        </p:txBody>
      </p:sp>
      <p:pic>
        <p:nvPicPr>
          <p:cNvPr id="123" name="Google Shape;123;p24"/>
          <p:cNvPicPr preferRelativeResize="0"/>
          <p:nvPr/>
        </p:nvPicPr>
        <p:blipFill>
          <a:blip r:embed="rId3">
            <a:alphaModFix/>
          </a:blip>
          <a:stretch>
            <a:fillRect/>
          </a:stretch>
        </p:blipFill>
        <p:spPr>
          <a:xfrm>
            <a:off x="6239413" y="1152475"/>
            <a:ext cx="2809875" cy="3495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GatewayServer</a:t>
            </a:r>
            <a:endParaRPr/>
          </a:p>
        </p:txBody>
      </p:sp>
      <p:sp>
        <p:nvSpPr>
          <p:cNvPr id="129" name="Google Shape;129;p2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Aggiunto alla spec il campo </a:t>
            </a:r>
            <a:r>
              <a:rPr lang="it" b="1"/>
              <a:t>endpoint.otherPorts </a:t>
            </a:r>
            <a:r>
              <a:rPr lang="it"/>
              <a:t>(struct </a:t>
            </a:r>
            <a:r>
              <a:rPr lang="it" i="1"/>
              <a:t>Endpoint</a:t>
            </a:r>
            <a:r>
              <a:rPr lang="it"/>
              <a:t>) che contiene le listening ports delle interfacce create</a:t>
            </a:r>
            <a:endParaRPr/>
          </a:p>
          <a:p>
            <a:pPr marL="914400" lvl="1" indent="-317500" algn="l" rtl="0">
              <a:spcBef>
                <a:spcPts val="0"/>
              </a:spcBef>
              <a:spcAft>
                <a:spcPts val="0"/>
              </a:spcAft>
              <a:buSzPts val="1400"/>
              <a:buChar char="○"/>
            </a:pPr>
            <a:r>
              <a:rPr lang="it" i="1"/>
              <a:t>Il campo endpoint.port viene mantenuto per retrocompatibilità</a:t>
            </a:r>
            <a:endParaRPr i="1"/>
          </a:p>
          <a:p>
            <a:pPr marL="914400" lvl="1" indent="-317500" algn="l" rtl="0">
              <a:spcBef>
                <a:spcPts val="0"/>
              </a:spcBef>
              <a:spcAft>
                <a:spcPts val="0"/>
              </a:spcAft>
              <a:buSzPts val="1400"/>
              <a:buChar char="○"/>
            </a:pPr>
            <a:r>
              <a:rPr lang="it"/>
              <a:t>Tramite un opportuno template i valori possono essere accodati nel comando --listen-port del container wireguard</a:t>
            </a:r>
            <a:endParaRPr/>
          </a:p>
          <a:p>
            <a:pPr marL="457200" lvl="0" indent="-342900" algn="l" rtl="0">
              <a:spcBef>
                <a:spcPts val="0"/>
              </a:spcBef>
              <a:spcAft>
                <a:spcPts val="0"/>
              </a:spcAft>
              <a:buSzPts val="1800"/>
              <a:buChar char="●"/>
            </a:pPr>
            <a:r>
              <a:rPr lang="it"/>
              <a:t>Aggiunto il parametro </a:t>
            </a:r>
            <a:r>
              <a:rPr lang="it" b="1"/>
              <a:t>numInterfaces</a:t>
            </a:r>
            <a:r>
              <a:rPr lang="it"/>
              <a:t> gestito in modo analogo al Client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Gateway Server problemi</a:t>
            </a:r>
            <a:endParaRPr/>
          </a:p>
        </p:txBody>
      </p:sp>
      <p:sp>
        <p:nvSpPr>
          <p:cNvPr id="135" name="Google Shape;135;p2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10000"/>
          </a:bodyPr>
          <a:lstStyle/>
          <a:p>
            <a:pPr marL="457200" lvl="0" indent="-317182" algn="l" rtl="0">
              <a:spcBef>
                <a:spcPts val="0"/>
              </a:spcBef>
              <a:spcAft>
                <a:spcPts val="0"/>
              </a:spcAft>
              <a:buSzPct val="100000"/>
              <a:buChar char="●"/>
            </a:pPr>
            <a:r>
              <a:rPr lang="it"/>
              <a:t>Se numInterfaces=otherPorts+1 tutto ok</a:t>
            </a:r>
            <a:endParaRPr/>
          </a:p>
          <a:p>
            <a:pPr marL="457200" lvl="0" indent="-317182" algn="l" rtl="0">
              <a:spcBef>
                <a:spcPts val="0"/>
              </a:spcBef>
              <a:spcAft>
                <a:spcPts val="0"/>
              </a:spcAft>
              <a:buSzPct val="100000"/>
              <a:buChar char="●"/>
            </a:pPr>
            <a:r>
              <a:rPr lang="it"/>
              <a:t>Se numInterfaces &lt; otherPorts+1 le porte in eccesso sono ignorate </a:t>
            </a:r>
            <a:endParaRPr/>
          </a:p>
          <a:p>
            <a:pPr marL="457200" lvl="0" indent="-317182" algn="l" rtl="0">
              <a:spcBef>
                <a:spcPts val="0"/>
              </a:spcBef>
              <a:spcAft>
                <a:spcPts val="0"/>
              </a:spcAft>
              <a:buSzPct val="100000"/>
              <a:buChar char="●"/>
            </a:pPr>
            <a:r>
              <a:rPr lang="it"/>
              <a:t>Se numInterfaces &gt; otherPorts +1 si creano delle interfacce senza porte. Queste non vanno mai up, è un problema anche abilitare la threaded Napi</a:t>
            </a:r>
            <a:endParaRPr/>
          </a:p>
          <a:p>
            <a:pPr marL="457200" lvl="0" indent="-317182" algn="l" rtl="0">
              <a:spcBef>
                <a:spcPts val="0"/>
              </a:spcBef>
              <a:spcAft>
                <a:spcPts val="0"/>
              </a:spcAft>
              <a:buSzPct val="100000"/>
              <a:buChar char="●"/>
            </a:pPr>
            <a:r>
              <a:rPr lang="it"/>
              <a:t>Il vincolo in questione non può essere imposto direttamente sullo yaml</a:t>
            </a:r>
            <a:endParaRPr/>
          </a:p>
          <a:p>
            <a:pPr marL="457200" lvl="0" indent="0" algn="l" rtl="0">
              <a:spcBef>
                <a:spcPts val="1200"/>
              </a:spcBef>
              <a:spcAft>
                <a:spcPts val="0"/>
              </a:spcAft>
              <a:buNone/>
            </a:pPr>
            <a:endParaRPr/>
          </a:p>
          <a:p>
            <a:pPr marL="457200" lvl="0" indent="-317182" algn="l" rtl="0">
              <a:spcBef>
                <a:spcPts val="1200"/>
              </a:spcBef>
              <a:spcAft>
                <a:spcPts val="0"/>
              </a:spcAft>
              <a:buSzPct val="100000"/>
              <a:buChar char="●"/>
            </a:pPr>
            <a:r>
              <a:rPr lang="it" b="1"/>
              <a:t>Soluzioni</a:t>
            </a:r>
            <a:r>
              <a:rPr lang="it"/>
              <a:t>:</a:t>
            </a:r>
            <a:endParaRPr/>
          </a:p>
          <a:p>
            <a:pPr marL="914400" lvl="1" indent="-297497" algn="l" rtl="0">
              <a:spcBef>
                <a:spcPts val="0"/>
              </a:spcBef>
              <a:spcAft>
                <a:spcPts val="0"/>
              </a:spcAft>
              <a:buSzPct val="100000"/>
              <a:buChar char="○"/>
            </a:pPr>
            <a:r>
              <a:rPr lang="it" b="1"/>
              <a:t>Controllo del vincolo alla creazione di wggatewayserver</a:t>
            </a:r>
            <a:r>
              <a:rPr lang="it"/>
              <a:t>: </a:t>
            </a:r>
            <a:endParaRPr/>
          </a:p>
          <a:p>
            <a:pPr marL="1371600" lvl="2" indent="-297497" algn="l" rtl="0">
              <a:spcBef>
                <a:spcPts val="0"/>
              </a:spcBef>
              <a:spcAft>
                <a:spcPts val="0"/>
              </a:spcAft>
              <a:buSzPct val="100000"/>
              <a:buChar char="■"/>
            </a:pPr>
            <a:r>
              <a:rPr lang="it"/>
              <a:t>Se ci sono porte in eccesso vengono rimosse da gatewayserver. Se mancano porte si aggiungono in modo casuale a gatewayserver, evitando conflitti con quelle già esistenti. La risorsa modificata fa ripartire il Reconciler</a:t>
            </a:r>
            <a:endParaRPr/>
          </a:p>
          <a:p>
            <a:pPr marL="914400" lvl="1" indent="-297497" algn="l" rtl="0">
              <a:spcBef>
                <a:spcPts val="0"/>
              </a:spcBef>
              <a:spcAft>
                <a:spcPts val="0"/>
              </a:spcAft>
              <a:buSzPct val="100000"/>
              <a:buChar char="○"/>
            </a:pPr>
            <a:r>
              <a:rPr lang="it"/>
              <a:t>Utilizzo di un webhook per validare la risorsa – potrebbe essere complesso da implementare</a:t>
            </a:r>
            <a:endParaRPr/>
          </a:p>
          <a:p>
            <a:pPr marL="914400" lvl="1" indent="-297497" algn="l" rtl="0">
              <a:spcBef>
                <a:spcPts val="0"/>
              </a:spcBef>
              <a:spcAft>
                <a:spcPts val="0"/>
              </a:spcAft>
              <a:buSzPct val="100000"/>
              <a:buChar char="○"/>
            </a:pPr>
            <a:r>
              <a:rPr lang="it"/>
              <a:t>Eliminazione del campo numInterfaces, derivato dal numero di porte direttamente - poco user friendly</a:t>
            </a:r>
            <a:endParaRPr/>
          </a:p>
          <a:p>
            <a:pPr marL="914400" lvl="1" indent="-297497" algn="l" rtl="0">
              <a:spcBef>
                <a:spcPts val="0"/>
              </a:spcBef>
              <a:spcAft>
                <a:spcPts val="0"/>
              </a:spcAft>
              <a:buSzPct val="100000"/>
              <a:buChar char="○"/>
            </a:pPr>
            <a:r>
              <a:rPr lang="it"/>
              <a:t>Calcolo dinamico delle porte mancanti, al momento della creazione del gateway - problematico perché in gatewayserver non vi è traccia delle porte aggiunte. Problemi nella creazione del service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Gateway Client problemi e next-steps</a:t>
            </a:r>
            <a:endParaRPr/>
          </a:p>
        </p:txBody>
      </p:sp>
      <p:sp>
        <p:nvSpPr>
          <p:cNvPr id="141" name="Google Shape;141;p2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otherPorts vengono copiate direttamente da quelle che espone il gatewayserver</a:t>
            </a:r>
            <a:endParaRPr/>
          </a:p>
          <a:p>
            <a:pPr marL="457200" lvl="0" indent="-342900" algn="l" rtl="0">
              <a:spcBef>
                <a:spcPts val="0"/>
              </a:spcBef>
              <a:spcAft>
                <a:spcPts val="0"/>
              </a:spcAft>
              <a:buSzPts val="1800"/>
              <a:buChar char="●"/>
            </a:pPr>
            <a:r>
              <a:rPr lang="it"/>
              <a:t>La soluzione semplice è eliminare il campo numInterfaces</a:t>
            </a:r>
            <a:endParaRPr/>
          </a:p>
          <a:p>
            <a:pPr marL="0" lvl="0" indent="0" algn="l" rtl="0">
              <a:spcBef>
                <a:spcPts val="1200"/>
              </a:spcBef>
              <a:spcAft>
                <a:spcPts val="1200"/>
              </a:spcAft>
              <a:buNone/>
            </a:pPr>
            <a:br>
              <a:rPr lang="it" b="1"/>
            </a:br>
            <a:br>
              <a:rPr lang="it" b="1"/>
            </a:br>
            <a:r>
              <a:rPr lang="it" b="1"/>
              <a:t>Per evitare di utilizzare somme nel template è meglio fare un refactoring più complesso eliminando la dualità tra port e otherPorts sia sul client che sul server</a:t>
            </a:r>
            <a:endParaRPr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it"/>
              <a:t>Creazione e configurazione interfacce</a:t>
            </a:r>
            <a:endParaRPr/>
          </a:p>
        </p:txBody>
      </p:sp>
      <p:sp>
        <p:nvSpPr>
          <p:cNvPr id="147" name="Google Shape;147;p28"/>
          <p:cNvSpPr txBox="1"/>
          <p:nvPr/>
        </p:nvSpPr>
        <p:spPr>
          <a:xfrm>
            <a:off x="0" y="2882775"/>
            <a:ext cx="9180000" cy="1847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800">
                <a:solidFill>
                  <a:schemeClr val="dk2"/>
                </a:solidFill>
              </a:rPr>
              <a:t>Commit : </a:t>
            </a:r>
            <a:r>
              <a:rPr lang="it" sz="1800" b="1">
                <a:solidFill>
                  <a:srgbClr val="1F2328"/>
                </a:solidFill>
                <a:highlight>
                  <a:srgbClr val="F6F8FA"/>
                </a:highlight>
                <a:latin typeface="Courier New"/>
                <a:ea typeface="Courier New"/>
                <a:cs typeface="Courier New"/>
                <a:sym typeface="Courier New"/>
              </a:rPr>
              <a:t>27b7a1a, 61d780d, 33fdda2</a:t>
            </a: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Creazione di N interfacce</a:t>
            </a: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a:p>
        </p:txBody>
      </p:sp>
      <p:sp>
        <p:nvSpPr>
          <p:cNvPr id="153" name="Google Shape;15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In </a:t>
            </a:r>
            <a:r>
              <a:rPr lang="it" i="1"/>
              <a:t>cmd/gateway/wireguard/main.go</a:t>
            </a:r>
            <a:r>
              <a:rPr lang="it"/>
              <a:t> : </a:t>
            </a:r>
            <a:r>
              <a:rPr lang="it" b="1"/>
              <a:t>InitWireguardLink</a:t>
            </a:r>
            <a:r>
              <a:rPr lang="it"/>
              <a:t> è chiamata ripetutamente in un loop (con limite </a:t>
            </a:r>
            <a:r>
              <a:rPr lang="it" i="1"/>
              <a:t>--interface-number </a:t>
            </a:r>
            <a:r>
              <a:rPr lang="it"/>
              <a:t>). </a:t>
            </a:r>
            <a:br>
              <a:rPr lang="it"/>
            </a:br>
            <a:r>
              <a:rPr lang="it"/>
              <a:t>Ad ogni chiamata si passa l’indice del loop alla funzione</a:t>
            </a:r>
            <a:endParaRPr/>
          </a:p>
          <a:p>
            <a:pPr marL="457200" lvl="0" indent="-342900" algn="l" rtl="0">
              <a:spcBef>
                <a:spcPts val="0"/>
              </a:spcBef>
              <a:spcAft>
                <a:spcPts val="0"/>
              </a:spcAft>
              <a:buSzPts val="1800"/>
              <a:buChar char="●"/>
            </a:pPr>
            <a:r>
              <a:rPr lang="it"/>
              <a:t>La funzione genera:</a:t>
            </a:r>
            <a:endParaRPr/>
          </a:p>
          <a:p>
            <a:pPr marL="914400" lvl="1" indent="-317500" algn="l" rtl="0">
              <a:spcBef>
                <a:spcPts val="0"/>
              </a:spcBef>
              <a:spcAft>
                <a:spcPts val="0"/>
              </a:spcAft>
              <a:buSzPts val="1400"/>
              <a:buChar char="○"/>
            </a:pPr>
            <a:r>
              <a:rPr lang="it"/>
              <a:t>Il </a:t>
            </a:r>
            <a:r>
              <a:rPr lang="it" b="1"/>
              <a:t>nome</a:t>
            </a:r>
            <a:r>
              <a:rPr lang="it"/>
              <a:t> che diventa &lt;nome di base&gt;-k (eccetto che per k=0) (es </a:t>
            </a:r>
            <a:r>
              <a:rPr lang="it" i="1"/>
              <a:t>liqo-tunnel</a:t>
            </a:r>
            <a:r>
              <a:rPr lang="it"/>
              <a:t>, </a:t>
            </a:r>
            <a:r>
              <a:rPr lang="it" i="1"/>
              <a:t>liqo-tunnel1</a:t>
            </a:r>
            <a:r>
              <a:rPr lang="it"/>
              <a:t>)</a:t>
            </a:r>
            <a:endParaRPr/>
          </a:p>
          <a:p>
            <a:pPr marL="914400" lvl="1" indent="-317500" algn="l" rtl="0">
              <a:spcBef>
                <a:spcPts val="0"/>
              </a:spcBef>
              <a:spcAft>
                <a:spcPts val="0"/>
              </a:spcAft>
              <a:buSzPts val="1400"/>
              <a:buChar char="○"/>
            </a:pPr>
            <a:r>
              <a:rPr lang="it"/>
              <a:t>L’</a:t>
            </a:r>
            <a:r>
              <a:rPr lang="it" b="1"/>
              <a:t>ip</a:t>
            </a:r>
            <a:r>
              <a:rPr lang="it"/>
              <a:t>:  si costruisce partendo dagli ip di base (169.254.18.2 e 169.254.18.1) e aggiungendo 4 (rete /30)</a:t>
            </a:r>
            <a:endParaRPr/>
          </a:p>
          <a:p>
            <a:pPr marL="914400" lvl="1" indent="-317500" algn="l" rtl="0">
              <a:spcBef>
                <a:spcPts val="0"/>
              </a:spcBef>
              <a:spcAft>
                <a:spcPts val="0"/>
              </a:spcAft>
              <a:buSzPts val="1400"/>
              <a:buChar char="○"/>
            </a:pPr>
            <a:r>
              <a:rPr lang="it"/>
              <a:t>La </a:t>
            </a:r>
            <a:r>
              <a:rPr lang="it" b="1"/>
              <a:t>listening port </a:t>
            </a:r>
            <a:r>
              <a:rPr lang="it"/>
              <a:t>(solo per il gateway server) prendendola da </a:t>
            </a:r>
            <a:r>
              <a:rPr lang="it" i="1"/>
              <a:t>--listen-port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Configurazione di N interfacce</a:t>
            </a:r>
            <a:endParaRPr/>
          </a:p>
        </p:txBody>
      </p:sp>
      <p:sp>
        <p:nvSpPr>
          <p:cNvPr id="159" name="Google Shape;159;p3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SzPts val="1800"/>
              <a:buChar char="●"/>
            </a:pPr>
            <a:r>
              <a:rPr lang="it"/>
              <a:t>Le interfacce create al punto precedente hanno solo nome e listening port. Necessari ancora i parametri:</a:t>
            </a:r>
            <a:endParaRPr/>
          </a:p>
          <a:p>
            <a:pPr marL="914400" lvl="1" indent="-317500" algn="l" rtl="0">
              <a:spcBef>
                <a:spcPts val="0"/>
              </a:spcBef>
              <a:spcAft>
                <a:spcPts val="0"/>
              </a:spcAft>
              <a:buSzPts val="1400"/>
              <a:buChar char="○"/>
            </a:pPr>
            <a:r>
              <a:rPr lang="it"/>
              <a:t>Chiave privata</a:t>
            </a:r>
            <a:endParaRPr/>
          </a:p>
          <a:p>
            <a:pPr marL="914400" lvl="1" indent="-317500" algn="l" rtl="0">
              <a:spcBef>
                <a:spcPts val="0"/>
              </a:spcBef>
              <a:spcAft>
                <a:spcPts val="0"/>
              </a:spcAft>
              <a:buSzPts val="1400"/>
              <a:buChar char="○"/>
            </a:pPr>
            <a:r>
              <a:rPr lang="it"/>
              <a:t>Chiave pubblica del peer</a:t>
            </a:r>
            <a:endParaRPr/>
          </a:p>
          <a:p>
            <a:pPr marL="914400" lvl="1" indent="-317500" algn="l" rtl="0">
              <a:spcBef>
                <a:spcPts val="0"/>
              </a:spcBef>
              <a:spcAft>
                <a:spcPts val="0"/>
              </a:spcAft>
              <a:buSzPts val="1400"/>
              <a:buChar char="○"/>
            </a:pPr>
            <a:r>
              <a:rPr lang="it"/>
              <a:t>Allowed-ips</a:t>
            </a:r>
            <a:endParaRPr/>
          </a:p>
          <a:p>
            <a:pPr marL="914400" lvl="1" indent="-317500" algn="l" rtl="0">
              <a:spcBef>
                <a:spcPts val="0"/>
              </a:spcBef>
              <a:spcAft>
                <a:spcPts val="0"/>
              </a:spcAft>
              <a:buSzPts val="1400"/>
              <a:buChar char="○"/>
            </a:pPr>
            <a:r>
              <a:rPr lang="it"/>
              <a:t>Endpoint port (Solo per il client) L’indirizzo e la porta da utilizzare per contattare il peer</a:t>
            </a:r>
            <a:endParaRPr/>
          </a:p>
          <a:p>
            <a:pPr marL="457200" lvl="0" indent="-342900" algn="l" rtl="0">
              <a:spcBef>
                <a:spcPts val="0"/>
              </a:spcBef>
              <a:spcAft>
                <a:spcPts val="0"/>
              </a:spcAft>
              <a:buSzPts val="1800"/>
              <a:buChar char="●"/>
            </a:pPr>
            <a:r>
              <a:rPr lang="it"/>
              <a:t>Patch della funzione </a:t>
            </a:r>
            <a:r>
              <a:rPr lang="it" b="1"/>
              <a:t>configureDevice </a:t>
            </a:r>
            <a:r>
              <a:rPr lang="it"/>
              <a:t>(</a:t>
            </a:r>
            <a:r>
              <a:rPr lang="it" i="1"/>
              <a:t>pkg/gateway/tunnel/wireguard/</a:t>
            </a:r>
            <a:r>
              <a:rPr lang="it" i="1" u="sng">
                <a:solidFill>
                  <a:schemeClr val="hlink"/>
                </a:solidFill>
                <a:hlinkClick r:id="rId3"/>
              </a:rPr>
              <a:t>device.go</a:t>
            </a:r>
            <a:r>
              <a:rPr lang="it"/>
              <a:t>), chiamata in un loop nel Reconcile (pkg/gateway/tunnel/wireguard/publickeys_controller.go) :</a:t>
            </a:r>
            <a:endParaRPr/>
          </a:p>
          <a:p>
            <a:pPr marL="914400" lvl="1" indent="-317500" algn="l" rtl="0">
              <a:spcBef>
                <a:spcPts val="0"/>
              </a:spcBef>
              <a:spcAft>
                <a:spcPts val="0"/>
              </a:spcAft>
              <a:buSzPts val="1400"/>
              <a:buChar char="○"/>
            </a:pPr>
            <a:r>
              <a:rPr lang="it"/>
              <a:t>Introduzione di un parametro intero idx: utilizzato per identificare l’interfaccia corretta in base al nome, ricalcolare la listening port lato server, selezionare l’EndpointPort lato client (dalla lista </a:t>
            </a:r>
            <a:r>
              <a:rPr lang="it" i="1"/>
              <a:t>--endpoint-port</a:t>
            </a:r>
            <a:r>
              <a:rPr lang="it"/>
              <a:t>)</a:t>
            </a:r>
            <a:endParaRPr/>
          </a:p>
          <a:p>
            <a:pPr marL="914400" lvl="1" indent="-317500" algn="l" rtl="0">
              <a:spcBef>
                <a:spcPts val="0"/>
              </a:spcBef>
              <a:spcAft>
                <a:spcPts val="0"/>
              </a:spcAft>
              <a:buSzPts val="1400"/>
              <a:buChar char="○"/>
            </a:pPr>
            <a:r>
              <a:rPr lang="it"/>
              <a:t>EndpointIP (client) e allowed-ips sono uguali per tutte le interfacce.</a:t>
            </a:r>
            <a:endParaRPr/>
          </a:p>
          <a:p>
            <a:pPr marL="457200" lvl="0" indent="-342900" algn="l" rtl="0">
              <a:spcBef>
                <a:spcPts val="0"/>
              </a:spcBef>
              <a:spcAft>
                <a:spcPts val="0"/>
              </a:spcAft>
              <a:buSzPts val="1800"/>
              <a:buChar char="●"/>
            </a:pPr>
            <a:r>
              <a:rPr lang="it"/>
              <a:t>Una singola coppia di chiavi é sufficiente per tutte le interfacce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it"/>
              <a:t>Gestione di Service,Handshake e Status</a:t>
            </a:r>
            <a:endParaRPr/>
          </a:p>
        </p:txBody>
      </p:sp>
      <p:sp>
        <p:nvSpPr>
          <p:cNvPr id="165" name="Google Shape;165;p31"/>
          <p:cNvSpPr txBox="1"/>
          <p:nvPr/>
        </p:nvSpPr>
        <p:spPr>
          <a:xfrm>
            <a:off x="0" y="2882775"/>
            <a:ext cx="9180000" cy="2955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800">
                <a:solidFill>
                  <a:schemeClr val="dk2"/>
                </a:solidFill>
              </a:rPr>
              <a:t>Commit : </a:t>
            </a:r>
            <a:r>
              <a:rPr lang="it" sz="1800" b="1">
                <a:solidFill>
                  <a:srgbClr val="1F2328"/>
                </a:solidFill>
                <a:highlight>
                  <a:srgbClr val="F6F8FA"/>
                </a:highlight>
                <a:latin typeface="Courier New"/>
                <a:ea typeface="Courier New"/>
                <a:cs typeface="Courier New"/>
                <a:sym typeface="Courier New"/>
              </a:rPr>
              <a:t>4778d10, ff59ba3, fbbc5ed, 71167a7</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a:solidFill>
                <a:schemeClr val="dk2"/>
              </a:solidFill>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2"/>
          <p:cNvSpPr txBox="1">
            <a:spLocks noGrp="1"/>
          </p:cNvSpPr>
          <p:nvPr>
            <p:ph type="title"/>
          </p:nvPr>
        </p:nvSpPr>
        <p:spPr>
          <a:xfrm>
            <a:off x="311700" y="3044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Gestione del Service</a:t>
            </a:r>
            <a:endParaRPr/>
          </a:p>
        </p:txBody>
      </p:sp>
      <p:sp>
        <p:nvSpPr>
          <p:cNvPr id="171" name="Google Shape;171;p32"/>
          <p:cNvSpPr txBox="1">
            <a:spLocks noGrp="1"/>
          </p:cNvSpPr>
          <p:nvPr>
            <p:ph type="body" idx="1"/>
          </p:nvPr>
        </p:nvSpPr>
        <p:spPr>
          <a:xfrm>
            <a:off x="115650" y="756275"/>
            <a:ext cx="4485600" cy="4472400"/>
          </a:xfrm>
          <a:prstGeom prst="rect">
            <a:avLst/>
          </a:prstGeom>
        </p:spPr>
        <p:txBody>
          <a:bodyPr spcFirstLastPara="1" wrap="square" lIns="91425" tIns="91425" rIns="91425" bIns="91425" anchor="t" anchorCtr="0">
            <a:normAutofit fontScale="70000" lnSpcReduction="10000"/>
          </a:bodyPr>
          <a:lstStyle/>
          <a:p>
            <a:pPr marL="457200" lvl="0" indent="-308610" algn="l" rtl="0">
              <a:spcBef>
                <a:spcPts val="0"/>
              </a:spcBef>
              <a:spcAft>
                <a:spcPts val="0"/>
              </a:spcAft>
              <a:buSzPct val="100000"/>
              <a:buChar char="●"/>
            </a:pPr>
            <a:r>
              <a:rPr lang="it"/>
              <a:t>Il service che espone le interfacce del Server viene creato automaticamente da Kubernetes sulla base della risorsa </a:t>
            </a:r>
            <a:r>
              <a:rPr lang="it" i="1"/>
              <a:t>wggatewayserver</a:t>
            </a:r>
            <a:r>
              <a:rPr lang="it"/>
              <a:t> che ne contiene il deployment completo (generato a partire dal template)</a:t>
            </a:r>
            <a:endParaRPr/>
          </a:p>
          <a:p>
            <a:pPr marL="457200" lvl="0" indent="-308610" algn="l" rtl="0">
              <a:spcBef>
                <a:spcPts val="0"/>
              </a:spcBef>
              <a:spcAft>
                <a:spcPts val="0"/>
              </a:spcAft>
              <a:buSzPct val="100000"/>
              <a:buChar char="●"/>
            </a:pPr>
            <a:r>
              <a:rPr lang="it" b="1"/>
              <a:t>Idea:</a:t>
            </a:r>
            <a:r>
              <a:rPr lang="it"/>
              <a:t> estendere il template in modo che si crei un unico service che rimappi tutte le listening ports (</a:t>
            </a:r>
            <a:r>
              <a:rPr lang="it" i="1"/>
              <a:t>otherPorts</a:t>
            </a:r>
            <a:r>
              <a:rPr lang="it"/>
              <a:t>) contenute nella risorsa GatewayServer</a:t>
            </a:r>
            <a:br>
              <a:rPr lang="it"/>
            </a:br>
            <a:r>
              <a:rPr lang="it" b="1"/>
              <a:t>Problema:</a:t>
            </a:r>
            <a:r>
              <a:rPr lang="it"/>
              <a:t>Il template non può essere modificato per inserire un numero non definito di porte al suo interno (ad esempio con un ciclo)</a:t>
            </a:r>
            <a:endParaRPr/>
          </a:p>
          <a:p>
            <a:pPr marL="457200" lvl="0" indent="-308610" algn="l" rtl="0">
              <a:spcBef>
                <a:spcPts val="0"/>
              </a:spcBef>
              <a:spcAft>
                <a:spcPts val="0"/>
              </a:spcAft>
              <a:buSzPct val="100000"/>
              <a:buChar char="●"/>
            </a:pPr>
            <a:r>
              <a:rPr lang="it" b="1"/>
              <a:t>Approccio scelto:</a:t>
            </a:r>
            <a:r>
              <a:rPr lang="it"/>
              <a:t> estendere il GatewayServer controller in modo che, lette le porte dal GatewayServer, le inserisca direttamente nella spec del Service in </a:t>
            </a:r>
            <a:r>
              <a:rPr lang="it" i="1"/>
              <a:t>wggatewayserver</a:t>
            </a:r>
            <a:endParaRPr i="1"/>
          </a:p>
          <a:p>
            <a:pPr marL="457200" lvl="0" indent="-308610" algn="l" rtl="0">
              <a:spcBef>
                <a:spcPts val="0"/>
              </a:spcBef>
              <a:spcAft>
                <a:spcPts val="0"/>
              </a:spcAft>
              <a:buSzPct val="100000"/>
              <a:buChar char="●"/>
            </a:pPr>
            <a:r>
              <a:rPr lang="it" b="1"/>
              <a:t>Nodeport port</a:t>
            </a:r>
            <a:r>
              <a:rPr lang="it"/>
              <a:t>: Il campo Nodeport del gatewayServer non è stato ancora esteso per contenere N porte. Una volta fatto queste dovranno essere integrate nel service (quando specificate)</a:t>
            </a:r>
            <a:br>
              <a:rPr lang="it"/>
            </a:br>
            <a:br>
              <a:rPr lang="it"/>
            </a:br>
            <a:endParaRPr/>
          </a:p>
        </p:txBody>
      </p:sp>
      <p:pic>
        <p:nvPicPr>
          <p:cNvPr id="172" name="Google Shape;172;p32"/>
          <p:cNvPicPr preferRelativeResize="0"/>
          <p:nvPr/>
        </p:nvPicPr>
        <p:blipFill rotWithShape="1">
          <a:blip r:embed="rId3">
            <a:alphaModFix/>
          </a:blip>
          <a:srcRect t="47595"/>
          <a:stretch/>
        </p:blipFill>
        <p:spPr>
          <a:xfrm>
            <a:off x="4572000" y="304426"/>
            <a:ext cx="4000851" cy="2002425"/>
          </a:xfrm>
          <a:prstGeom prst="rect">
            <a:avLst/>
          </a:prstGeom>
          <a:noFill/>
          <a:ln>
            <a:noFill/>
          </a:ln>
        </p:spPr>
      </p:pic>
      <p:pic>
        <p:nvPicPr>
          <p:cNvPr id="173" name="Google Shape;173;p32"/>
          <p:cNvPicPr preferRelativeResize="0"/>
          <p:nvPr/>
        </p:nvPicPr>
        <p:blipFill rotWithShape="1">
          <a:blip r:embed="rId4">
            <a:alphaModFix/>
          </a:blip>
          <a:srcRect b="32102"/>
          <a:stretch/>
        </p:blipFill>
        <p:spPr>
          <a:xfrm>
            <a:off x="4726950" y="2420225"/>
            <a:ext cx="3690951" cy="264222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Service Status</a:t>
            </a:r>
            <a:endParaRPr/>
          </a:p>
        </p:txBody>
      </p:sp>
      <p:sp>
        <p:nvSpPr>
          <p:cNvPr id="179" name="Google Shape;179;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Dopo aver creato il Service multiporta è necessario allineare le porte effettive nello status delle CRD </a:t>
            </a:r>
            <a:r>
              <a:rPr lang="it" i="1"/>
              <a:t>WgGatewayServer</a:t>
            </a:r>
            <a:r>
              <a:rPr lang="it"/>
              <a:t> e </a:t>
            </a:r>
            <a:r>
              <a:rPr lang="it" i="1"/>
              <a:t>GatewayServer</a:t>
            </a:r>
            <a:endParaRPr/>
          </a:p>
          <a:p>
            <a:pPr marL="914400" lvl="1" indent="-317500" algn="l" rtl="0">
              <a:spcBef>
                <a:spcPts val="0"/>
              </a:spcBef>
              <a:spcAft>
                <a:spcPts val="0"/>
              </a:spcAft>
              <a:buSzPts val="1400"/>
              <a:buChar char="○"/>
            </a:pPr>
            <a:r>
              <a:rPr lang="it"/>
              <a:t>Si può sfruttare il campo </a:t>
            </a:r>
            <a:r>
              <a:rPr lang="it" i="1"/>
              <a:t>otherPorts</a:t>
            </a:r>
            <a:r>
              <a:rPr lang="it"/>
              <a:t> della struct EndpointStatus accodandoci le porte aggiuntive presenti nel Service</a:t>
            </a:r>
            <a:endParaRPr/>
          </a:p>
          <a:p>
            <a:pPr marL="1371600" lvl="2" indent="-317500" algn="l" rtl="0">
              <a:spcBef>
                <a:spcPts val="0"/>
              </a:spcBef>
              <a:spcAft>
                <a:spcPts val="0"/>
              </a:spcAft>
              <a:buSzPts val="1400"/>
              <a:buChar char="■"/>
            </a:pPr>
            <a:r>
              <a:rPr lang="it"/>
              <a:t>Piccola modifica delle funzioni </a:t>
            </a:r>
            <a:r>
              <a:rPr lang="it" i="1"/>
              <a:t>forgeEndpointStatusClusterIp</a:t>
            </a:r>
            <a:r>
              <a:rPr lang="it"/>
              <a:t>, </a:t>
            </a:r>
            <a:r>
              <a:rPr lang="it" i="1"/>
              <a:t>forgeEndpointStatusNodePort</a:t>
            </a:r>
            <a:r>
              <a:rPr lang="it"/>
              <a:t>, </a:t>
            </a:r>
            <a:r>
              <a:rPr lang="it" i="1"/>
              <a:t>forgeEndpointStatusLoadBalancer</a:t>
            </a:r>
            <a:endParaRPr i="1"/>
          </a:p>
          <a:p>
            <a:pPr marL="914400" lvl="1" indent="-317500" algn="l" rtl="0">
              <a:spcBef>
                <a:spcPts val="0"/>
              </a:spcBef>
              <a:spcAft>
                <a:spcPts val="0"/>
              </a:spcAft>
              <a:buSzPts val="1400"/>
              <a:buChar char="○"/>
            </a:pPr>
            <a:r>
              <a:rPr lang="it"/>
              <a:t>L’utilizzo di un unico Service consente di gestire solo la scrittura del campo otherPorts lasciando inalterata la gestione del ciclo di vita dell’Endpoint</a:t>
            </a:r>
            <a:endParaRPr/>
          </a:p>
          <a:p>
            <a:pPr marL="457200" lvl="0" indent="-342900" algn="l" rtl="0">
              <a:spcBef>
                <a:spcPts val="0"/>
              </a:spcBef>
              <a:spcAft>
                <a:spcPts val="0"/>
              </a:spcAft>
              <a:buSzPts val="1800"/>
              <a:buChar char="●"/>
            </a:pPr>
            <a:r>
              <a:rPr lang="it"/>
              <a:t>Una volta scritto lo status di </a:t>
            </a:r>
            <a:r>
              <a:rPr lang="it" i="1"/>
              <a:t>WgGatewayServer</a:t>
            </a:r>
            <a:r>
              <a:rPr lang="it"/>
              <a:t> questo viene letto e copiato in </a:t>
            </a:r>
            <a:r>
              <a:rPr lang="it" i="1"/>
              <a:t>GatewayServer</a:t>
            </a:r>
            <a:r>
              <a:rPr lang="it"/>
              <a:t>. Richiede una piccola modifica alla funzione ParseEndpoint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Keepalive</a:t>
            </a:r>
            <a:endParaRPr/>
          </a:p>
        </p:txBody>
      </p:sp>
      <p:sp>
        <p:nvSpPr>
          <p:cNvPr id="185" name="Google Shape;185;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Liqo utilizza un sistema di keepalive basato su un ping-pong ICMP</a:t>
            </a:r>
            <a:endParaRPr/>
          </a:p>
          <a:p>
            <a:pPr marL="914400" lvl="1" indent="-317500" algn="l" rtl="0">
              <a:spcBef>
                <a:spcPts val="0"/>
              </a:spcBef>
              <a:spcAft>
                <a:spcPts val="0"/>
              </a:spcAft>
              <a:buSzPts val="1400"/>
              <a:buChar char="○"/>
            </a:pPr>
            <a:r>
              <a:rPr lang="it"/>
              <a:t>Serve per calcolare la latenza della connessione e per aggiornare lo stato della stessa</a:t>
            </a:r>
            <a:endParaRPr/>
          </a:p>
          <a:p>
            <a:pPr marL="914400" lvl="1" indent="-317500" algn="l" rtl="0">
              <a:spcBef>
                <a:spcPts val="0"/>
              </a:spcBef>
              <a:spcAft>
                <a:spcPts val="0"/>
              </a:spcAft>
              <a:buSzPts val="1400"/>
              <a:buChar char="○"/>
            </a:pPr>
            <a:r>
              <a:rPr lang="it"/>
              <a:t>Tale sistema è stato lasciato inalterato per l’interfaccia liqo-tunnel</a:t>
            </a:r>
            <a:endParaRPr/>
          </a:p>
          <a:p>
            <a:pPr marL="457200" lvl="0" indent="-342900" algn="l" rtl="0">
              <a:spcBef>
                <a:spcPts val="0"/>
              </a:spcBef>
              <a:spcAft>
                <a:spcPts val="0"/>
              </a:spcAft>
              <a:buSzPts val="1800"/>
              <a:buChar char="●"/>
            </a:pPr>
            <a:r>
              <a:rPr lang="it"/>
              <a:t>Su tutte le interfacce aggiuntive è stato utilizzato il persistent keepalive nativo</a:t>
            </a:r>
            <a:endParaRPr/>
          </a:p>
          <a:p>
            <a:pPr marL="914400" lvl="1" indent="-317500" algn="l" rtl="0">
              <a:spcBef>
                <a:spcPts val="0"/>
              </a:spcBef>
              <a:spcAft>
                <a:spcPts val="0"/>
              </a:spcAft>
              <a:buSzPts val="1400"/>
              <a:buChar char="○"/>
            </a:pPr>
            <a:r>
              <a:rPr lang="it"/>
              <a:t>Valore di 25 secondi hardcoded</a:t>
            </a:r>
            <a:endParaRPr/>
          </a:p>
          <a:p>
            <a:pPr marL="914400" lvl="1" indent="-317500" algn="l" rtl="0">
              <a:spcBef>
                <a:spcPts val="0"/>
              </a:spcBef>
              <a:spcAft>
                <a:spcPts val="0"/>
              </a:spcAft>
              <a:buSzPts val="1400"/>
              <a:buChar char="○"/>
            </a:pPr>
            <a:r>
              <a:rPr lang="it"/>
              <a:t>Ha il solo scopo di mantenere le interfacce connesse e mantenere attive le regole di nat intermedie.</a:t>
            </a:r>
            <a:endParaRPr/>
          </a:p>
          <a:p>
            <a:pPr marL="1371600" lvl="2" indent="-317500" algn="l" rtl="0">
              <a:spcBef>
                <a:spcPts val="0"/>
              </a:spcBef>
              <a:spcAft>
                <a:spcPts val="0"/>
              </a:spcAft>
              <a:buSzPts val="1400"/>
              <a:buChar char="■"/>
            </a:pPr>
            <a:r>
              <a:rPr lang="it"/>
              <a:t>Altrimenti il ping server-client sarebbe impossibile (Ad esempio il server impara l’endpoint del client solo dopo la prima connessione)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it"/>
              <a:t>Threaded NAPI</a:t>
            </a:r>
            <a:endParaRPr/>
          </a:p>
        </p:txBody>
      </p:sp>
      <p:sp>
        <p:nvSpPr>
          <p:cNvPr id="191" name="Google Shape;191;p35"/>
          <p:cNvSpPr txBox="1"/>
          <p:nvPr/>
        </p:nvSpPr>
        <p:spPr>
          <a:xfrm>
            <a:off x="0" y="2882775"/>
            <a:ext cx="9180000" cy="3232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800">
                <a:solidFill>
                  <a:schemeClr val="dk2"/>
                </a:solidFill>
              </a:rPr>
              <a:t>Commit : </a:t>
            </a:r>
            <a:r>
              <a:rPr lang="it" sz="1800" b="1">
                <a:solidFill>
                  <a:srgbClr val="1F2328"/>
                </a:solidFill>
                <a:highlight>
                  <a:srgbClr val="F6F8FA"/>
                </a:highlight>
                <a:latin typeface="Courier New"/>
                <a:ea typeface="Courier New"/>
                <a:cs typeface="Courier New"/>
                <a:sym typeface="Courier New"/>
              </a:rPr>
              <a:t>756567c</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r>
              <a:rPr lang="it" sz="1800">
                <a:solidFill>
                  <a:schemeClr val="dk2"/>
                </a:solidFill>
              </a:rPr>
              <a:t> </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a:solidFill>
                <a:schemeClr val="dk2"/>
              </a:solidFill>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Threaded Napi</a:t>
            </a:r>
            <a:endParaRPr/>
          </a:p>
        </p:txBody>
      </p:sp>
      <p:sp>
        <p:nvSpPr>
          <p:cNvPr id="197" name="Google Shape;197;p3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7" algn="l" rtl="0">
              <a:spcBef>
                <a:spcPts val="0"/>
              </a:spcBef>
              <a:spcAft>
                <a:spcPts val="0"/>
              </a:spcAft>
              <a:buSzPct val="100000"/>
              <a:buChar char="●"/>
            </a:pPr>
            <a:r>
              <a:rPr lang="it"/>
              <a:t>L’abilitazione della threaded NAPI su Wireguard avviene unicamente settando ad 1 </a:t>
            </a:r>
            <a:r>
              <a:rPr lang="it" i="1"/>
              <a:t>/sys/class/net/&lt;interface&gt;/threaded</a:t>
            </a:r>
            <a:endParaRPr i="1"/>
          </a:p>
          <a:p>
            <a:pPr marL="914400" lvl="1" indent="-310832" algn="l" rtl="0">
              <a:spcBef>
                <a:spcPts val="0"/>
              </a:spcBef>
              <a:spcAft>
                <a:spcPts val="0"/>
              </a:spcAft>
              <a:buSzPct val="100000"/>
              <a:buChar char="○"/>
            </a:pPr>
            <a:r>
              <a:rPr lang="it"/>
              <a:t>Non esistono API netlink o syscall dedicate</a:t>
            </a:r>
            <a:endParaRPr/>
          </a:p>
          <a:p>
            <a:pPr marL="457200" lvl="0" indent="-334327" algn="l" rtl="0">
              <a:spcBef>
                <a:spcPts val="0"/>
              </a:spcBef>
              <a:spcAft>
                <a:spcPts val="0"/>
              </a:spcAft>
              <a:buSzPct val="100000"/>
              <a:buChar char="●"/>
            </a:pPr>
            <a:r>
              <a:rPr lang="it" b="1"/>
              <a:t>Problema:</a:t>
            </a:r>
            <a:r>
              <a:rPr lang="it"/>
              <a:t>  il container gateway, pur essendo privilegiato, opera con /sys montato in read-only</a:t>
            </a:r>
            <a:endParaRPr/>
          </a:p>
          <a:p>
            <a:pPr marL="457200" lvl="0" indent="-334327" algn="l" rtl="0">
              <a:spcBef>
                <a:spcPts val="0"/>
              </a:spcBef>
              <a:spcAft>
                <a:spcPts val="0"/>
              </a:spcAft>
              <a:buSzPct val="100000"/>
              <a:buChar char="●"/>
            </a:pPr>
            <a:r>
              <a:rPr lang="it"/>
              <a:t>Due soluzioni:</a:t>
            </a:r>
            <a:endParaRPr/>
          </a:p>
          <a:p>
            <a:pPr marL="914400" lvl="1" indent="-310832" algn="l" rtl="0">
              <a:spcBef>
                <a:spcPts val="0"/>
              </a:spcBef>
              <a:spcAft>
                <a:spcPts val="0"/>
              </a:spcAft>
              <a:buSzPct val="100000"/>
              <a:buChar char="○"/>
            </a:pPr>
            <a:r>
              <a:rPr lang="it" b="1"/>
              <a:t>Il container gateway attende la creazione delle interfacce da parte del container Wireguard. Esegue il remount di /sys in modalità read-write. Aggiorna il flag di tutte le interfacce. Ripristina /sys in modalità read-only</a:t>
            </a:r>
            <a:endParaRPr b="1"/>
          </a:p>
          <a:p>
            <a:pPr marL="1371600" lvl="2" indent="-310832" algn="l" rtl="0">
              <a:spcBef>
                <a:spcPts val="0"/>
              </a:spcBef>
              <a:spcAft>
                <a:spcPts val="0"/>
              </a:spcAft>
              <a:buSzPct val="100000"/>
              <a:buChar char="■"/>
            </a:pPr>
            <a:r>
              <a:rPr lang="it"/>
              <a:t>Si fa tutto tramite una go routine dentro il metodo Start() del RunnableGateway</a:t>
            </a:r>
            <a:endParaRPr/>
          </a:p>
          <a:p>
            <a:pPr marL="914400" lvl="1" indent="-310832" algn="l" rtl="0">
              <a:spcBef>
                <a:spcPts val="0"/>
              </a:spcBef>
              <a:spcAft>
                <a:spcPts val="0"/>
              </a:spcAft>
              <a:buSzPct val="100000"/>
              <a:buChar char="○"/>
            </a:pPr>
            <a:r>
              <a:rPr lang="it"/>
              <a:t>Il container wireguard, reso privilegiato, setta il flag subito dopo la creazione delle interfacce. E’ necessario comunque fare il mounting in read-write di sys</a:t>
            </a:r>
            <a:endParaRPr/>
          </a:p>
          <a:p>
            <a:pPr marL="457200" lvl="0" indent="-334327" algn="l" rtl="0">
              <a:spcBef>
                <a:spcPts val="0"/>
              </a:spcBef>
              <a:spcAft>
                <a:spcPts val="0"/>
              </a:spcAft>
              <a:buSzPct val="100000"/>
              <a:buChar char="●"/>
            </a:pPr>
            <a:r>
              <a:rPr lang="it"/>
              <a:t>Possibili problemi (soluzione 1):</a:t>
            </a:r>
            <a:endParaRPr/>
          </a:p>
          <a:p>
            <a:pPr marL="914400" lvl="1" indent="-310832" algn="l" rtl="0">
              <a:spcBef>
                <a:spcPts val="0"/>
              </a:spcBef>
              <a:spcAft>
                <a:spcPts val="0"/>
              </a:spcAft>
              <a:buSzPct val="100000"/>
              <a:buChar char="○"/>
            </a:pPr>
            <a:r>
              <a:rPr lang="it"/>
              <a:t>Lettura di un numero di interfacce inferiore a quello reale</a:t>
            </a:r>
            <a:endParaRPr/>
          </a:p>
          <a:p>
            <a:pPr marL="914400" lvl="1" indent="-310832" algn="l" rtl="0">
              <a:spcBef>
                <a:spcPts val="0"/>
              </a:spcBef>
              <a:spcAft>
                <a:spcPts val="0"/>
              </a:spcAft>
              <a:buSzPct val="100000"/>
              <a:buChar char="○"/>
            </a:pPr>
            <a:r>
              <a:rPr lang="it"/>
              <a:t>Tentativo di abilitare il flag se non supportato - loop infinito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7"/>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it"/>
              <a:t>RouteConfiguration</a:t>
            </a:r>
            <a:endParaRPr/>
          </a:p>
        </p:txBody>
      </p:sp>
      <p:sp>
        <p:nvSpPr>
          <p:cNvPr id="203" name="Google Shape;203;p37"/>
          <p:cNvSpPr txBox="1"/>
          <p:nvPr/>
        </p:nvSpPr>
        <p:spPr>
          <a:xfrm>
            <a:off x="0" y="2882775"/>
            <a:ext cx="9180000" cy="4340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800">
                <a:solidFill>
                  <a:schemeClr val="dk2"/>
                </a:solidFill>
              </a:rPr>
              <a:t>Commit : </a:t>
            </a:r>
            <a:r>
              <a:rPr lang="it" sz="1800" b="1">
                <a:solidFill>
                  <a:srgbClr val="1F2328"/>
                </a:solidFill>
                <a:highlight>
                  <a:srgbClr val="F6F8FA"/>
                </a:highlight>
                <a:latin typeface="Courier New"/>
                <a:ea typeface="Courier New"/>
                <a:cs typeface="Courier New"/>
                <a:sym typeface="Courier New"/>
              </a:rPr>
              <a:t>e2c94ce ,750e07d, 56f87f3, 5a42702</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r>
              <a:rPr lang="it" sz="1800" b="1">
                <a:solidFill>
                  <a:srgbClr val="1F2328"/>
                </a:solidFill>
                <a:highlight>
                  <a:srgbClr val="F6F8FA"/>
                </a:highlight>
                <a:latin typeface="Courier New"/>
                <a:ea typeface="Courier New"/>
                <a:cs typeface="Courier New"/>
                <a:sym typeface="Courier New"/>
              </a:rPr>
              <a:t> </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r>
              <a:rPr lang="it" sz="1800">
                <a:solidFill>
                  <a:schemeClr val="dk2"/>
                </a:solidFill>
              </a:rPr>
              <a:t> </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r>
              <a:rPr lang="it" sz="1800">
                <a:solidFill>
                  <a:schemeClr val="dk2"/>
                </a:solidFill>
              </a:rPr>
              <a:t> </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a:solidFill>
                <a:schemeClr val="dk2"/>
              </a:solidFill>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8"/>
          <p:cNvSpPr txBox="1">
            <a:spLocks noGrp="1"/>
          </p:cNvSpPr>
          <p:nvPr>
            <p:ph type="title"/>
          </p:nvPr>
        </p:nvSpPr>
        <p:spPr>
          <a:xfrm>
            <a:off x="311700" y="4848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it" sz="1800" b="1"/>
              <a:t>&lt;remote-cluster-id&gt;-gw-ext </a:t>
            </a:r>
            <a:endParaRPr/>
          </a:p>
        </p:txBody>
      </p:sp>
      <p:sp>
        <p:nvSpPr>
          <p:cNvPr id="209" name="Google Shape;209;p38"/>
          <p:cNvSpPr txBox="1">
            <a:spLocks noGrp="1"/>
          </p:cNvSpPr>
          <p:nvPr>
            <p:ph type="body" idx="1"/>
          </p:nvPr>
        </p:nvSpPr>
        <p:spPr>
          <a:xfrm>
            <a:off x="311700" y="1152475"/>
            <a:ext cx="5871300" cy="37107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28571"/>
              <a:buChar char="●"/>
            </a:pPr>
            <a:r>
              <a:rPr lang="it"/>
              <a:t>Aggiunto il supporto ad una struttura (retrocompatibile) </a:t>
            </a:r>
            <a:r>
              <a:rPr lang="it" b="1"/>
              <a:t>next-hop</a:t>
            </a:r>
            <a:r>
              <a:rPr lang="it"/>
              <a:t> nel file </a:t>
            </a:r>
            <a:r>
              <a:rPr lang="it" sz="1400" b="1"/>
              <a:t>apis/networking/v1beta1/routeconfiguration_types.go</a:t>
            </a:r>
            <a:endParaRPr sz="1400" b="1"/>
          </a:p>
          <a:p>
            <a:pPr marL="914400" lvl="1" indent="-325755" algn="l" rtl="0">
              <a:spcBef>
                <a:spcPts val="0"/>
              </a:spcBef>
              <a:spcAft>
                <a:spcPts val="0"/>
              </a:spcAft>
              <a:buSzPct val="100000"/>
              <a:buChar char="○"/>
            </a:pPr>
            <a:r>
              <a:rPr lang="it" sz="1800"/>
              <a:t>Next-Hop contiene un campo gateway (indirizzo IP del next-hop) e un campo weight (peso ECMP della rotta)</a:t>
            </a:r>
            <a:endParaRPr sz="1800"/>
          </a:p>
          <a:p>
            <a:pPr marL="914400" lvl="1" indent="-325755" algn="l" rtl="0">
              <a:spcBef>
                <a:spcPts val="0"/>
              </a:spcBef>
              <a:spcAft>
                <a:spcPts val="0"/>
              </a:spcAft>
              <a:buSzPct val="100000"/>
              <a:buChar char="○"/>
            </a:pPr>
            <a:r>
              <a:rPr lang="it" sz="1800"/>
              <a:t>Un vettore di Next-Hop (</a:t>
            </a:r>
            <a:r>
              <a:rPr lang="it" sz="1800" i="1"/>
              <a:t>nextHops</a:t>
            </a:r>
            <a:r>
              <a:rPr lang="it" sz="1800"/>
              <a:t>) può essere utilizzato come alternativa (mutuamente esclusiva) al campo gateway</a:t>
            </a:r>
            <a:endParaRPr sz="1800"/>
          </a:p>
          <a:p>
            <a:pPr marL="457200" lvl="0" indent="-325755" algn="l" rtl="0">
              <a:spcBef>
                <a:spcPts val="0"/>
              </a:spcBef>
              <a:spcAft>
                <a:spcPts val="0"/>
              </a:spcAft>
              <a:buSzPct val="100000"/>
              <a:buChar char="●"/>
            </a:pPr>
            <a:r>
              <a:rPr lang="it" sz="1800"/>
              <a:t>La funzione </a:t>
            </a:r>
            <a:r>
              <a:rPr lang="it" sz="1800" i="1"/>
              <a:t>forgeNetlinkRoute </a:t>
            </a:r>
            <a:r>
              <a:rPr lang="it" sz="1800"/>
              <a:t>(</a:t>
            </a:r>
            <a:r>
              <a:rPr lang="it"/>
              <a:t>file </a:t>
            </a:r>
            <a:r>
              <a:rPr lang="it" i="1"/>
              <a:t>liqo/pkg/route.go</a:t>
            </a:r>
            <a:r>
              <a:rPr lang="it"/>
              <a:t>)</a:t>
            </a:r>
            <a:r>
              <a:rPr lang="it" sz="1800"/>
              <a:t> gestisce il multipath</a:t>
            </a:r>
            <a:endParaRPr sz="1800"/>
          </a:p>
          <a:p>
            <a:pPr marL="1371600" lvl="2" indent="-325755" algn="l" rtl="0">
              <a:spcBef>
                <a:spcPts val="0"/>
              </a:spcBef>
              <a:spcAft>
                <a:spcPts val="0"/>
              </a:spcAft>
              <a:buSzPct val="100000"/>
              <a:buChar char="■"/>
            </a:pPr>
            <a:r>
              <a:rPr lang="it" sz="1800"/>
              <a:t>Si utilizza il campo </a:t>
            </a:r>
            <a:r>
              <a:rPr lang="it" sz="1800" i="1"/>
              <a:t>MultiPath</a:t>
            </a:r>
            <a:r>
              <a:rPr lang="it" sz="1800"/>
              <a:t> di </a:t>
            </a:r>
            <a:r>
              <a:rPr lang="it" sz="1800" i="1"/>
              <a:t>netlink.route</a:t>
            </a:r>
            <a:r>
              <a:rPr lang="it" sz="1800"/>
              <a:t> insieme alla struttura </a:t>
            </a:r>
            <a:r>
              <a:rPr lang="it" sz="1800" i="1"/>
              <a:t>netlink.NexthopInfo</a:t>
            </a:r>
            <a:endParaRPr sz="1800" i="1"/>
          </a:p>
          <a:p>
            <a:pPr marL="1371600" lvl="2" indent="-325755" algn="l" rtl="0">
              <a:spcBef>
                <a:spcPts val="0"/>
              </a:spcBef>
              <a:spcAft>
                <a:spcPts val="0"/>
              </a:spcAft>
              <a:buSzPct val="100000"/>
              <a:buChar char="■"/>
            </a:pPr>
            <a:r>
              <a:rPr lang="it" sz="1800"/>
              <a:t>Funzione isEqualRoute è estesa il confronto tra route Multipath e singole</a:t>
            </a:r>
            <a:endParaRPr sz="1800"/>
          </a:p>
          <a:p>
            <a:pPr marL="1828800" lvl="3" indent="-325755" algn="l" rtl="0">
              <a:spcBef>
                <a:spcPts val="0"/>
              </a:spcBef>
              <a:spcAft>
                <a:spcPts val="0"/>
              </a:spcAft>
              <a:buSzPct val="100000"/>
              <a:buChar char="●"/>
            </a:pPr>
            <a:r>
              <a:rPr lang="it" sz="1800"/>
              <a:t>Il confronto tra rotte singole rimane invariato</a:t>
            </a:r>
            <a:endParaRPr sz="1800"/>
          </a:p>
        </p:txBody>
      </p:sp>
      <p:pic>
        <p:nvPicPr>
          <p:cNvPr id="210" name="Google Shape;210;p38"/>
          <p:cNvPicPr preferRelativeResize="0"/>
          <p:nvPr/>
        </p:nvPicPr>
        <p:blipFill>
          <a:blip r:embed="rId3">
            <a:alphaModFix/>
          </a:blip>
          <a:stretch>
            <a:fillRect/>
          </a:stretch>
        </p:blipFill>
        <p:spPr>
          <a:xfrm>
            <a:off x="6154500" y="1302425"/>
            <a:ext cx="2876550" cy="26289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9"/>
          <p:cNvSpPr txBox="1">
            <a:spLocks noGrp="1"/>
          </p:cNvSpPr>
          <p:nvPr>
            <p:ph type="title"/>
          </p:nvPr>
        </p:nvSpPr>
        <p:spPr>
          <a:xfrm>
            <a:off x="311700" y="4848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sz="1800" b="1"/>
              <a:t>&lt;remote-cluster-id&gt;-gw-ext  </a:t>
            </a:r>
            <a:r>
              <a:rPr lang="it"/>
              <a:t>ECMP</a:t>
            </a:r>
            <a:endParaRPr/>
          </a:p>
        </p:txBody>
      </p:sp>
      <p:sp>
        <p:nvSpPr>
          <p:cNvPr id="216" name="Google Shape;216;p3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Nel main del container gateway il valore del parametro </a:t>
            </a:r>
            <a:r>
              <a:rPr lang="it" i="1"/>
              <a:t>--enable-ecmp</a:t>
            </a:r>
            <a:r>
              <a:rPr lang="it"/>
              <a:t> si riflette nel parametro </a:t>
            </a:r>
            <a:r>
              <a:rPr lang="it" i="1"/>
              <a:t>net.ipv4.fib_multipath_hash_policy</a:t>
            </a:r>
            <a:r>
              <a:rPr lang="it"/>
              <a:t> all’interno del pod gateway, ponendolo uguale a 1 (se true) al fine di supportare l’hash ECMP sulla 5-tupla. </a:t>
            </a:r>
            <a:endParaRPr/>
          </a:p>
          <a:p>
            <a:pPr marL="914400" lvl="1" indent="-317500" algn="l" rtl="0">
              <a:spcBef>
                <a:spcPts val="0"/>
              </a:spcBef>
              <a:spcAft>
                <a:spcPts val="0"/>
              </a:spcAft>
              <a:buSzPts val="1400"/>
              <a:buChar char="○"/>
            </a:pPr>
            <a:r>
              <a:rPr lang="it"/>
              <a:t>Il parametro è per namespace: se modificato nel gateway non si riflette sul nodo host</a:t>
            </a:r>
            <a:endParaRPr/>
          </a:p>
          <a:p>
            <a:pPr marL="457200" lvl="0" indent="-342900" algn="l" rtl="0">
              <a:spcBef>
                <a:spcPts val="0"/>
              </a:spcBef>
              <a:spcAft>
                <a:spcPts val="0"/>
              </a:spcAft>
              <a:buSzPts val="1800"/>
              <a:buChar char="●"/>
            </a:pPr>
            <a:r>
              <a:rPr lang="it"/>
              <a:t>Il valore di </a:t>
            </a:r>
            <a:r>
              <a:rPr lang="it" i="1"/>
              <a:t>--enable-ecmp </a:t>
            </a:r>
            <a:r>
              <a:rPr lang="it"/>
              <a:t>dipende dal numero di interfacce:</a:t>
            </a:r>
            <a:endParaRPr/>
          </a:p>
          <a:p>
            <a:pPr marL="914400" lvl="1" indent="-317500" algn="l" rtl="0">
              <a:spcBef>
                <a:spcPts val="0"/>
              </a:spcBef>
              <a:spcAft>
                <a:spcPts val="0"/>
              </a:spcAft>
              <a:buSzPts val="1400"/>
              <a:buChar char="○"/>
            </a:pPr>
            <a:r>
              <a:rPr lang="it"/>
              <a:t>TRUE se le interfacce sono almeno 2</a:t>
            </a:r>
            <a:endParaRPr/>
          </a:p>
          <a:p>
            <a:pPr marL="0" lvl="0" indent="0" algn="l" rtl="0">
              <a:spcBef>
                <a:spcPts val="1200"/>
              </a:spcBef>
              <a:spcAft>
                <a:spcPts val="120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40"/>
          <p:cNvSpPr txBox="1">
            <a:spLocks noGrp="1"/>
          </p:cNvSpPr>
          <p:nvPr>
            <p:ph type="title"/>
          </p:nvPr>
        </p:nvSpPr>
        <p:spPr>
          <a:xfrm>
            <a:off x="311700" y="48487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 sz="1800" b="1"/>
              <a:t>&lt;remote-cluster-id&gt;-gw-ext </a:t>
            </a:r>
            <a:endParaRPr/>
          </a:p>
        </p:txBody>
      </p:sp>
      <p:sp>
        <p:nvSpPr>
          <p:cNvPr id="222" name="Google Shape;222;p40"/>
          <p:cNvSpPr txBox="1">
            <a:spLocks noGrp="1"/>
          </p:cNvSpPr>
          <p:nvPr>
            <p:ph type="body" idx="1"/>
          </p:nvPr>
        </p:nvSpPr>
        <p:spPr>
          <a:xfrm>
            <a:off x="311700" y="1152475"/>
            <a:ext cx="8520600" cy="3710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Nella funzione </a:t>
            </a:r>
            <a:r>
              <a:rPr lang="it" b="1"/>
              <a:t>enforceRouteConfigurationPresence (</a:t>
            </a:r>
            <a:r>
              <a:rPr lang="it" i="1"/>
              <a:t>Configuration Controller del Controller Manager</a:t>
            </a:r>
            <a:r>
              <a:rPr lang="it" b="1"/>
              <a:t>)</a:t>
            </a:r>
            <a:r>
              <a:rPr lang="it"/>
              <a:t>:</a:t>
            </a:r>
            <a:endParaRPr/>
          </a:p>
          <a:p>
            <a:pPr marL="914400" lvl="1" indent="-317500" algn="l" rtl="0">
              <a:spcBef>
                <a:spcPts val="0"/>
              </a:spcBef>
              <a:spcAft>
                <a:spcPts val="0"/>
              </a:spcAft>
              <a:buSzPts val="1400"/>
              <a:buChar char="○"/>
            </a:pPr>
            <a:r>
              <a:rPr lang="it"/>
              <a:t>Estrazione dinamica del numero di interfacce dal campo numInterfaces della CRD </a:t>
            </a:r>
            <a:r>
              <a:rPr lang="it" i="1"/>
              <a:t>GatewayClient</a:t>
            </a:r>
            <a:r>
              <a:rPr lang="it"/>
              <a:t>/</a:t>
            </a:r>
            <a:r>
              <a:rPr lang="it" i="1"/>
              <a:t>GatewayServer</a:t>
            </a:r>
            <a:endParaRPr i="1"/>
          </a:p>
          <a:p>
            <a:pPr marL="914400" lvl="1" indent="-317500" algn="l" rtl="0">
              <a:spcBef>
                <a:spcPts val="0"/>
              </a:spcBef>
              <a:spcAft>
                <a:spcPts val="0"/>
              </a:spcAft>
              <a:buSzPts val="1400"/>
              <a:buChar char="○"/>
            </a:pPr>
            <a:r>
              <a:rPr lang="it"/>
              <a:t>Calcolo degli gli IP remoti di tutte le interfacce del gateway</a:t>
            </a:r>
            <a:endParaRPr/>
          </a:p>
          <a:p>
            <a:pPr marL="914400" lvl="1" indent="-317500" algn="l" rtl="0">
              <a:spcBef>
                <a:spcPts val="0"/>
              </a:spcBef>
              <a:spcAft>
                <a:spcPts val="0"/>
              </a:spcAft>
              <a:buSzPts val="1400"/>
              <a:buChar char="○"/>
            </a:pPr>
            <a:r>
              <a:rPr lang="it"/>
              <a:t>Entrambi i parametri passati alla funzione </a:t>
            </a:r>
            <a:r>
              <a:rPr lang="it" b="1"/>
              <a:t>forgeMutateRouteConfiguration</a:t>
            </a:r>
            <a:r>
              <a:rPr lang="it"/>
              <a:t>: ora genera condizionalmente rotte standard (gw) o rotte multipath (nextHops) in base al numero di interfacce</a:t>
            </a:r>
            <a:endParaRPr/>
          </a:p>
          <a:p>
            <a:pPr marL="457200" lvl="0" indent="-342900" algn="l" rtl="0">
              <a:spcBef>
                <a:spcPts val="0"/>
              </a:spcBef>
              <a:spcAft>
                <a:spcPts val="0"/>
              </a:spcAft>
              <a:buSzPts val="1800"/>
              <a:buChar char="●"/>
            </a:pPr>
            <a:r>
              <a:rPr lang="it"/>
              <a:t>Limitazioni attuali:</a:t>
            </a:r>
            <a:endParaRPr/>
          </a:p>
          <a:p>
            <a:pPr marL="914400" lvl="1" indent="-317500" algn="l" rtl="0">
              <a:spcBef>
                <a:spcPts val="0"/>
              </a:spcBef>
              <a:spcAft>
                <a:spcPts val="0"/>
              </a:spcAft>
              <a:buSzPts val="1400"/>
              <a:buChar char="○"/>
            </a:pPr>
            <a:r>
              <a:rPr lang="it"/>
              <a:t>Non è stato gestito il caso in cui una delle interfacce perda la connessione</a:t>
            </a:r>
            <a:endParaRPr/>
          </a:p>
          <a:p>
            <a:pPr marL="914400" lvl="1" indent="-317500" algn="l" rtl="0">
              <a:spcBef>
                <a:spcPts val="0"/>
              </a:spcBef>
              <a:spcAft>
                <a:spcPts val="0"/>
              </a:spcAft>
              <a:buSzPts val="1400"/>
              <a:buChar char="○"/>
            </a:pPr>
            <a:r>
              <a:rPr lang="it"/>
              <a:t>Il numero di interfacce è letto dallo Spec delle CRD </a:t>
            </a:r>
            <a:r>
              <a:rPr lang="it" i="1"/>
              <a:t>GatewayClient</a:t>
            </a:r>
            <a:r>
              <a:rPr lang="it"/>
              <a:t> /</a:t>
            </a:r>
            <a:r>
              <a:rPr lang="it" i="1"/>
              <a:t>Gateway Server</a:t>
            </a:r>
            <a:r>
              <a:rPr lang="it"/>
              <a:t> perchè non esiste (ancora) un equivalente nello Status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41"/>
          <p:cNvSpPr txBox="1">
            <a:spLocks noGrp="1"/>
          </p:cNvSpPr>
          <p:nvPr>
            <p:ph type="title"/>
          </p:nvPr>
        </p:nvSpPr>
        <p:spPr>
          <a:xfrm>
            <a:off x="265175" y="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 sz="1800" b="1"/>
              <a:t>milan-gw-ext  ESEMPIO</a:t>
            </a:r>
            <a:endParaRPr/>
          </a:p>
        </p:txBody>
      </p:sp>
      <p:pic>
        <p:nvPicPr>
          <p:cNvPr id="228" name="Google Shape;228;p41"/>
          <p:cNvPicPr preferRelativeResize="0"/>
          <p:nvPr/>
        </p:nvPicPr>
        <p:blipFill>
          <a:blip r:embed="rId3">
            <a:alphaModFix/>
          </a:blip>
          <a:stretch>
            <a:fillRect/>
          </a:stretch>
        </p:blipFill>
        <p:spPr>
          <a:xfrm>
            <a:off x="265175" y="499151"/>
            <a:ext cx="1946450" cy="4409101"/>
          </a:xfrm>
          <a:prstGeom prst="rect">
            <a:avLst/>
          </a:prstGeom>
          <a:noFill/>
          <a:ln>
            <a:noFill/>
          </a:ln>
        </p:spPr>
      </p:pic>
      <p:pic>
        <p:nvPicPr>
          <p:cNvPr id="229" name="Google Shape;229;p41"/>
          <p:cNvPicPr preferRelativeResize="0"/>
          <p:nvPr/>
        </p:nvPicPr>
        <p:blipFill>
          <a:blip r:embed="rId4">
            <a:alphaModFix/>
          </a:blip>
          <a:stretch>
            <a:fillRect/>
          </a:stretch>
        </p:blipFill>
        <p:spPr>
          <a:xfrm>
            <a:off x="2211625" y="602550"/>
            <a:ext cx="1660050" cy="4126299"/>
          </a:xfrm>
          <a:prstGeom prst="rect">
            <a:avLst/>
          </a:prstGeom>
          <a:noFill/>
          <a:ln>
            <a:noFill/>
          </a:ln>
        </p:spPr>
      </p:pic>
      <p:pic>
        <p:nvPicPr>
          <p:cNvPr id="230" name="Google Shape;230;p41"/>
          <p:cNvPicPr preferRelativeResize="0"/>
          <p:nvPr/>
        </p:nvPicPr>
        <p:blipFill>
          <a:blip r:embed="rId5">
            <a:alphaModFix/>
          </a:blip>
          <a:stretch>
            <a:fillRect/>
          </a:stretch>
        </p:blipFill>
        <p:spPr>
          <a:xfrm>
            <a:off x="4572000" y="662325"/>
            <a:ext cx="3991626" cy="464150"/>
          </a:xfrm>
          <a:prstGeom prst="rect">
            <a:avLst/>
          </a:prstGeom>
          <a:noFill/>
          <a:ln>
            <a:noFill/>
          </a:ln>
        </p:spPr>
      </p:pic>
      <p:pic>
        <p:nvPicPr>
          <p:cNvPr id="231" name="Google Shape;231;p41"/>
          <p:cNvPicPr preferRelativeResize="0"/>
          <p:nvPr/>
        </p:nvPicPr>
        <p:blipFill>
          <a:blip r:embed="rId6">
            <a:alphaModFix/>
          </a:blip>
          <a:stretch>
            <a:fillRect/>
          </a:stretch>
        </p:blipFill>
        <p:spPr>
          <a:xfrm>
            <a:off x="4572000" y="1564201"/>
            <a:ext cx="3991625" cy="18042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it" sz="1650" b="1">
                <a:solidFill>
                  <a:srgbClr val="1F2328"/>
                </a:solidFill>
                <a:highlight>
                  <a:schemeClr val="lt1"/>
                </a:highlight>
              </a:rPr>
              <a:t>&lt;local-cluster-id&gt;-&lt;node-name&gt;-gw-node</a:t>
            </a:r>
            <a:endParaRPr/>
          </a:p>
        </p:txBody>
      </p:sp>
      <p:sp>
        <p:nvSpPr>
          <p:cNvPr id="237" name="Google Shape;237;p42"/>
          <p:cNvSpPr txBox="1">
            <a:spLocks noGrp="1"/>
          </p:cNvSpPr>
          <p:nvPr>
            <p:ph type="body" idx="1"/>
          </p:nvPr>
        </p:nvSpPr>
        <p:spPr>
          <a:xfrm>
            <a:off x="311700" y="922400"/>
            <a:ext cx="4628400" cy="41202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Char char="●"/>
            </a:pPr>
            <a:r>
              <a:rPr lang="it"/>
              <a:t>Questa Risorsa viene scritta nel momento in cui Liqo viene installato, quando ancora il peering non è avvenuto</a:t>
            </a:r>
            <a:endParaRPr/>
          </a:p>
          <a:p>
            <a:pPr marL="914400" lvl="1" indent="-304165" algn="l" rtl="0">
              <a:spcBef>
                <a:spcPts val="0"/>
              </a:spcBef>
              <a:spcAft>
                <a:spcPts val="0"/>
              </a:spcAft>
              <a:buSzPct val="100000"/>
              <a:buChar char="○"/>
            </a:pPr>
            <a:r>
              <a:rPr lang="it"/>
              <a:t>Prevede un unico campo </a:t>
            </a:r>
            <a:r>
              <a:rPr lang="it" i="1"/>
              <a:t>iif: liqo-tunnel</a:t>
            </a:r>
            <a:r>
              <a:rPr lang="it"/>
              <a:t> (Il nome dell’interfaccia è hardcoded)</a:t>
            </a:r>
            <a:endParaRPr/>
          </a:p>
          <a:p>
            <a:pPr marL="914400" lvl="1" indent="-304165" algn="l" rtl="0">
              <a:spcBef>
                <a:spcPts val="0"/>
              </a:spcBef>
              <a:spcAft>
                <a:spcPts val="0"/>
              </a:spcAft>
              <a:buSzPct val="100000"/>
              <a:buChar char="○"/>
            </a:pPr>
            <a:r>
              <a:rPr lang="it"/>
              <a:t>Viene aggiornata quando un pod viene aggiunto o rimosso da un nodo</a:t>
            </a:r>
            <a:endParaRPr/>
          </a:p>
          <a:p>
            <a:pPr marL="914400" lvl="1" indent="-304165" algn="l" rtl="0">
              <a:spcBef>
                <a:spcPts val="0"/>
              </a:spcBef>
              <a:spcAft>
                <a:spcPts val="0"/>
              </a:spcAft>
              <a:buSzPct val="100000"/>
              <a:buChar char="○"/>
            </a:pPr>
            <a:r>
              <a:rPr lang="it"/>
              <a:t>Estenderla può essere complicato:</a:t>
            </a:r>
            <a:endParaRPr/>
          </a:p>
          <a:p>
            <a:pPr marL="1371600" lvl="2" indent="-304164" algn="l" rtl="0">
              <a:spcBef>
                <a:spcPts val="0"/>
              </a:spcBef>
              <a:spcAft>
                <a:spcPts val="0"/>
              </a:spcAft>
              <a:buSzPct val="100000"/>
              <a:buChar char="■"/>
            </a:pPr>
            <a:r>
              <a:rPr lang="it"/>
              <a:t>Richiede di reagire alla creazione di un nuovo gateway, e di calcolare il numero massimo di interfacce esistenti. </a:t>
            </a:r>
            <a:endParaRPr/>
          </a:p>
          <a:p>
            <a:pPr marL="1371600" lvl="2" indent="-304164" algn="l" rtl="0">
              <a:spcBef>
                <a:spcPts val="0"/>
              </a:spcBef>
              <a:spcAft>
                <a:spcPts val="0"/>
              </a:spcAft>
              <a:buSzPct val="100000"/>
              <a:buChar char="■"/>
            </a:pPr>
            <a:r>
              <a:rPr lang="it"/>
              <a:t>Richiederebbe uno yaml molto lungo, perchè per ogni interfaccia bisogna replicare le stesse regole</a:t>
            </a:r>
            <a:endParaRPr/>
          </a:p>
          <a:p>
            <a:pPr marL="457200" lvl="0" indent="-325755" algn="l" rtl="0">
              <a:spcBef>
                <a:spcPts val="0"/>
              </a:spcBef>
              <a:spcAft>
                <a:spcPts val="0"/>
              </a:spcAft>
              <a:buSzPct val="100000"/>
              <a:buChar char="●"/>
            </a:pPr>
            <a:r>
              <a:rPr lang="it" b="1"/>
              <a:t>Soluzione:</a:t>
            </a:r>
            <a:r>
              <a:rPr lang="it"/>
              <a:t> Lasciare la CRD inalterata. Cambiare come viene interpretata dal controller delle rotte dentro al gateway.</a:t>
            </a:r>
            <a:endParaRPr/>
          </a:p>
          <a:p>
            <a:pPr marL="914400" lvl="1" indent="-304165" algn="l" rtl="0">
              <a:spcBef>
                <a:spcPts val="0"/>
              </a:spcBef>
              <a:spcAft>
                <a:spcPts val="0"/>
              </a:spcAft>
              <a:buSzPct val="100000"/>
              <a:buChar char="○"/>
            </a:pPr>
            <a:r>
              <a:rPr lang="it"/>
              <a:t>Quando legge </a:t>
            </a:r>
            <a:r>
              <a:rPr lang="it" i="1"/>
              <a:t>iif: liqo-tunnel</a:t>
            </a:r>
            <a:r>
              <a:rPr lang="it"/>
              <a:t> controlla quante interfacce liqo-tunnel* esistono e replica internamente la regola per ciascuna delle interfacce</a:t>
            </a:r>
            <a:endParaRPr/>
          </a:p>
        </p:txBody>
      </p:sp>
      <p:pic>
        <p:nvPicPr>
          <p:cNvPr id="238" name="Google Shape;238;p42"/>
          <p:cNvPicPr preferRelativeResize="0"/>
          <p:nvPr/>
        </p:nvPicPr>
        <p:blipFill>
          <a:blip r:embed="rId3">
            <a:alphaModFix/>
          </a:blip>
          <a:stretch>
            <a:fillRect/>
          </a:stretch>
        </p:blipFill>
        <p:spPr>
          <a:xfrm>
            <a:off x="5040226" y="703125"/>
            <a:ext cx="3976300" cy="43739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 sz="1650" b="1">
                <a:solidFill>
                  <a:srgbClr val="1F2328"/>
                </a:solidFill>
                <a:highlight>
                  <a:schemeClr val="lt1"/>
                </a:highlight>
              </a:rPr>
              <a:t>&lt;local-cluster-id&gt;-&lt;node-name&gt;-gw-node  ESEMPIO</a:t>
            </a:r>
            <a:endParaRPr/>
          </a:p>
        </p:txBody>
      </p:sp>
      <p:pic>
        <p:nvPicPr>
          <p:cNvPr id="244" name="Google Shape;244;p43"/>
          <p:cNvPicPr preferRelativeResize="0"/>
          <p:nvPr/>
        </p:nvPicPr>
        <p:blipFill>
          <a:blip r:embed="rId3">
            <a:alphaModFix/>
          </a:blip>
          <a:stretch>
            <a:fillRect/>
          </a:stretch>
        </p:blipFill>
        <p:spPr>
          <a:xfrm>
            <a:off x="410863" y="1674225"/>
            <a:ext cx="8067675" cy="2686050"/>
          </a:xfrm>
          <a:prstGeom prst="rect">
            <a:avLst/>
          </a:prstGeom>
          <a:noFill/>
          <a:ln>
            <a:noFill/>
          </a:ln>
        </p:spPr>
      </p:pic>
      <p:sp>
        <p:nvSpPr>
          <p:cNvPr id="245" name="Google Shape;245;p43"/>
          <p:cNvSpPr txBox="1"/>
          <p:nvPr/>
        </p:nvSpPr>
        <p:spPr>
          <a:xfrm>
            <a:off x="410875" y="1115125"/>
            <a:ext cx="8176800" cy="46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r>
              <a:rPr lang="it" sz="1800">
                <a:solidFill>
                  <a:schemeClr val="dk2"/>
                </a:solidFill>
              </a:rPr>
              <a:t>Comando : </a:t>
            </a:r>
            <a:r>
              <a:rPr lang="it" sz="1800" i="1">
                <a:solidFill>
                  <a:schemeClr val="dk2"/>
                </a:solidFill>
              </a:rPr>
              <a:t>ip rule show all</a:t>
            </a:r>
            <a:r>
              <a:rPr lang="it" sz="1800">
                <a:solidFill>
                  <a:schemeClr val="dk2"/>
                </a:solidFill>
              </a:rPr>
              <a:t> sul cluster Rome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it"/>
              <a:t>FirewallConfiguration</a:t>
            </a:r>
            <a:endParaRPr/>
          </a:p>
        </p:txBody>
      </p:sp>
      <p:sp>
        <p:nvSpPr>
          <p:cNvPr id="251" name="Google Shape;251;p44"/>
          <p:cNvSpPr txBox="1"/>
          <p:nvPr/>
        </p:nvSpPr>
        <p:spPr>
          <a:xfrm>
            <a:off x="0" y="2882775"/>
            <a:ext cx="9180000" cy="544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it" sz="1800">
                <a:solidFill>
                  <a:schemeClr val="dk2"/>
                </a:solidFill>
              </a:rPr>
              <a:t>Commit : </a:t>
            </a:r>
            <a:r>
              <a:rPr lang="it" sz="1800" b="1">
                <a:solidFill>
                  <a:srgbClr val="1F2328"/>
                </a:solidFill>
                <a:highlight>
                  <a:srgbClr val="F6F8FA"/>
                </a:highlight>
                <a:latin typeface="Courier New"/>
                <a:ea typeface="Courier New"/>
                <a:cs typeface="Courier New"/>
                <a:sym typeface="Courier New"/>
              </a:rPr>
              <a:t>4006e49, 199f843, 1bdb530, 80cdb09</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a:solidFill>
                <a:schemeClr val="dk2"/>
              </a:solidFill>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r>
              <a:rPr lang="it" sz="1800" b="1">
                <a:solidFill>
                  <a:srgbClr val="1F2328"/>
                </a:solidFill>
                <a:highlight>
                  <a:srgbClr val="F6F8FA"/>
                </a:highlight>
                <a:latin typeface="Courier New"/>
                <a:ea typeface="Courier New"/>
                <a:cs typeface="Courier New"/>
                <a:sym typeface="Courier New"/>
              </a:rPr>
              <a:t> </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r>
              <a:rPr lang="it" sz="1800">
                <a:solidFill>
                  <a:schemeClr val="dk2"/>
                </a:solidFill>
              </a:rPr>
              <a:t> </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r>
              <a:rPr lang="it" sz="1800">
                <a:solidFill>
                  <a:schemeClr val="dk2"/>
                </a:solidFill>
              </a:rPr>
              <a:t> </a:t>
            </a: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ctr" rtl="0">
              <a:spcBef>
                <a:spcPts val="0"/>
              </a:spcBef>
              <a:spcAft>
                <a:spcPts val="0"/>
              </a:spcAft>
              <a:buNone/>
            </a:pPr>
            <a:endParaRPr sz="1800">
              <a:solidFill>
                <a:schemeClr val="dk2"/>
              </a:solidFill>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b="1">
              <a:solidFill>
                <a:srgbClr val="1F2328"/>
              </a:solidFill>
              <a:highlight>
                <a:srgbClr val="F6F8FA"/>
              </a:highlight>
              <a:latin typeface="Courier New"/>
              <a:ea typeface="Courier New"/>
              <a:cs typeface="Courier New"/>
              <a:sym typeface="Courier New"/>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it" sz="1650" b="1">
                <a:solidFill>
                  <a:srgbClr val="1F2328"/>
                </a:solidFill>
                <a:highlight>
                  <a:schemeClr val="lt1"/>
                </a:highlight>
              </a:rPr>
              <a:t>&lt;tenant-name&gt;-remap-podcidr /&lt;tenant-name&gt;-remap-externalcidr</a:t>
            </a:r>
            <a:endParaRPr/>
          </a:p>
        </p:txBody>
      </p:sp>
      <p:sp>
        <p:nvSpPr>
          <p:cNvPr id="257" name="Google Shape;257;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AutoNum type="arabicPeriod"/>
            </a:pPr>
            <a:r>
              <a:rPr lang="it"/>
              <a:t>Si tratta di due CRD che gestiscono il remapping. Vengono tradotte da un controller nel gateway in delle regole nftables</a:t>
            </a:r>
            <a:endParaRPr/>
          </a:p>
          <a:p>
            <a:pPr marL="457200" lvl="0" indent="-342900" algn="l" rtl="0">
              <a:spcBef>
                <a:spcPts val="0"/>
              </a:spcBef>
              <a:spcAft>
                <a:spcPts val="0"/>
              </a:spcAft>
              <a:buSzPts val="1800"/>
              <a:buAutoNum type="arabicPeriod"/>
            </a:pPr>
            <a:r>
              <a:rPr lang="it"/>
              <a:t>Il Reconciler associato si attiva ogni volta che la </a:t>
            </a:r>
            <a:r>
              <a:rPr lang="it" i="1"/>
              <a:t>CRD Configuration</a:t>
            </a:r>
            <a:r>
              <a:rPr lang="it"/>
              <a:t> subisce una modifica</a:t>
            </a:r>
            <a:endParaRPr/>
          </a:p>
          <a:p>
            <a:pPr marL="914400" lvl="1" indent="-317500" algn="l" rtl="0">
              <a:spcBef>
                <a:spcPts val="0"/>
              </a:spcBef>
              <a:spcAft>
                <a:spcPts val="0"/>
              </a:spcAft>
              <a:buSzPts val="1400"/>
              <a:buAutoNum type="alphaLcPeriod"/>
            </a:pPr>
            <a:r>
              <a:rPr lang="it" b="1"/>
              <a:t>Problema:</a:t>
            </a:r>
            <a:r>
              <a:rPr lang="it"/>
              <a:t> la CRD Configuration rimane invariata quando i gateway vengono ricreati (ad esempio con un numero diverso di interfacce) quindi lo yaml della </a:t>
            </a:r>
            <a:r>
              <a:rPr lang="it" i="1"/>
              <a:t>FirewallConfiguration</a:t>
            </a:r>
            <a:r>
              <a:rPr lang="it"/>
              <a:t> resta inalterato</a:t>
            </a:r>
            <a:endParaRPr/>
          </a:p>
          <a:p>
            <a:pPr marL="457200" lvl="0" indent="-342900" algn="l" rtl="0">
              <a:spcBef>
                <a:spcPts val="0"/>
              </a:spcBef>
              <a:spcAft>
                <a:spcPts val="0"/>
              </a:spcAft>
              <a:buSzPts val="1800"/>
              <a:buAutoNum type="arabicPeriod"/>
            </a:pPr>
            <a:r>
              <a:rPr lang="it"/>
              <a:t>Soluzioni:</a:t>
            </a:r>
            <a:endParaRPr/>
          </a:p>
          <a:p>
            <a:pPr marL="914400" lvl="1" indent="-317500" algn="l" rtl="0">
              <a:spcBef>
                <a:spcPts val="0"/>
              </a:spcBef>
              <a:spcAft>
                <a:spcPts val="0"/>
              </a:spcAft>
              <a:buSzPts val="1400"/>
              <a:buAutoNum type="alphaLcPeriod"/>
            </a:pPr>
            <a:r>
              <a:rPr lang="it" b="1"/>
              <a:t>Nessuna modifica al  Reconciler della firewall configuration. Patch del controller del gateway in modo che consideri ogni occorrenza di “liqo-tunnel” un placeholder e lo specializzi con il numero di interfacce effettive</a:t>
            </a:r>
            <a:r>
              <a:rPr lang="it"/>
              <a:t> </a:t>
            </a:r>
            <a:endParaRPr/>
          </a:p>
          <a:p>
            <a:pPr marL="914400" lvl="1" indent="-317500" algn="l" rtl="0">
              <a:spcBef>
                <a:spcPts val="0"/>
              </a:spcBef>
              <a:spcAft>
                <a:spcPts val="0"/>
              </a:spcAft>
              <a:buSzPts val="1400"/>
              <a:buAutoNum type="alphaLcPeriod"/>
            </a:pPr>
            <a:r>
              <a:rPr lang="it"/>
              <a:t>Aggiungere un watch al Reconciler per le risorse </a:t>
            </a:r>
            <a:r>
              <a:rPr lang="it" i="1"/>
              <a:t>GatewayClient</a:t>
            </a:r>
            <a:r>
              <a:rPr lang="it"/>
              <a:t>/</a:t>
            </a:r>
            <a:r>
              <a:rPr lang="it" i="1"/>
              <a:t>GatewayServer</a:t>
            </a:r>
            <a:endParaRPr i="1"/>
          </a:p>
          <a:p>
            <a:pPr marL="914400" lvl="1" indent="-317500" algn="l" rtl="0">
              <a:spcBef>
                <a:spcPts val="0"/>
              </a:spcBef>
              <a:spcAft>
                <a:spcPts val="0"/>
              </a:spcAft>
              <a:buSzPts val="1400"/>
              <a:buAutoNum type="alphaLcPeriod"/>
            </a:pPr>
            <a:r>
              <a:rPr lang="it"/>
              <a:t>Modificare la risorsa Configuration aggiungendo un campo che indichi il numero di interfacce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it" sz="1650" b="1">
                <a:solidFill>
                  <a:srgbClr val="1F2328"/>
                </a:solidFill>
                <a:highlight>
                  <a:schemeClr val="lt1"/>
                </a:highlight>
              </a:rPr>
              <a:t>tenant-name&gt;-remap-podcidr /&lt;tenant-name&gt;-remap-externalcidr  DETTAGLI</a:t>
            </a:r>
            <a:endParaRPr/>
          </a:p>
        </p:txBody>
      </p:sp>
      <p:sp>
        <p:nvSpPr>
          <p:cNvPr id="263" name="Google Shape;263;p4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Si costruisce un set nftables che contiene tutte le interfacce</a:t>
            </a:r>
            <a:endParaRPr/>
          </a:p>
          <a:p>
            <a:pPr marL="457200" lvl="0" indent="-342900" algn="l" rtl="0">
              <a:spcBef>
                <a:spcPts val="0"/>
              </a:spcBef>
              <a:spcAft>
                <a:spcPts val="0"/>
              </a:spcAft>
              <a:buSzPts val="1800"/>
              <a:buChar char="●"/>
            </a:pPr>
            <a:r>
              <a:rPr lang="it"/>
              <a:t>Il traffico in uscita dal gateway necessita di subire DNAT. Nella regola base si specifica che il traffico non deve entrare dall’interfaccia “liqo-tunnel”</a:t>
            </a:r>
            <a:endParaRPr/>
          </a:p>
          <a:p>
            <a:pPr marL="914400" lvl="1" indent="-317500" algn="l" rtl="0">
              <a:spcBef>
                <a:spcPts val="0"/>
              </a:spcBef>
              <a:spcAft>
                <a:spcPts val="0"/>
              </a:spcAft>
              <a:buSzPts val="1400"/>
              <a:buChar char="○"/>
            </a:pPr>
            <a:r>
              <a:rPr lang="it"/>
              <a:t>Dentro il gateway la regola si espande in modo da fare </a:t>
            </a:r>
            <a:r>
              <a:rPr lang="it" i="1"/>
              <a:t>NOT IN</a:t>
            </a:r>
            <a:r>
              <a:rPr lang="it"/>
              <a:t> nel set</a:t>
            </a:r>
            <a:endParaRPr/>
          </a:p>
          <a:p>
            <a:pPr marL="457200" lvl="0" indent="-342900" algn="l" rtl="0">
              <a:spcBef>
                <a:spcPts val="0"/>
              </a:spcBef>
              <a:spcAft>
                <a:spcPts val="0"/>
              </a:spcAft>
              <a:buSzPts val="1800"/>
              <a:buChar char="●"/>
            </a:pPr>
            <a:r>
              <a:rPr lang="it"/>
              <a:t>Il traffico in ingresso necessita di subire SNAT. Nella regola di base si specifica come interfaccia di ingresso “liqo-tunnel”</a:t>
            </a:r>
            <a:endParaRPr/>
          </a:p>
          <a:p>
            <a:pPr marL="914400" lvl="1" indent="-317500" algn="l" rtl="0">
              <a:spcBef>
                <a:spcPts val="0"/>
              </a:spcBef>
              <a:spcAft>
                <a:spcPts val="0"/>
              </a:spcAft>
              <a:buSzPts val="1400"/>
              <a:buChar char="○"/>
            </a:pPr>
            <a:r>
              <a:rPr lang="it"/>
              <a:t>Dentro il gateway la regola si espande in modo da fare </a:t>
            </a:r>
            <a:r>
              <a:rPr lang="it" i="1"/>
              <a:t>IN</a:t>
            </a:r>
            <a:r>
              <a:rPr lang="it"/>
              <a:t> nel set</a:t>
            </a:r>
            <a:endParaRPr/>
          </a:p>
          <a:p>
            <a:pPr marL="457200" lvl="0" indent="-342900" algn="l" rtl="0">
              <a:spcBef>
                <a:spcPts val="0"/>
              </a:spcBef>
              <a:spcAft>
                <a:spcPts val="0"/>
              </a:spcAft>
              <a:buSzPts val="1800"/>
              <a:buChar char="●"/>
            </a:pPr>
            <a:r>
              <a:rPr lang="it"/>
              <a:t>La firewallconfiguration </a:t>
            </a:r>
            <a:r>
              <a:rPr lang="it" sz="1650" b="1">
                <a:solidFill>
                  <a:srgbClr val="1F2328"/>
                </a:solidFill>
                <a:highlight>
                  <a:schemeClr val="lt1"/>
                </a:highlight>
              </a:rPr>
              <a:t>service-nodeport-routing </a:t>
            </a:r>
            <a:r>
              <a:rPr lang="it"/>
              <a:t>marca il traffico che entra dall’interfaccia liqo-tunnel. La sintassi è molto simile al remapping</a:t>
            </a:r>
            <a:endParaRPr/>
          </a:p>
          <a:p>
            <a:pPr marL="914400" lvl="1" indent="-317500" algn="l" rtl="0">
              <a:spcBef>
                <a:spcPts val="0"/>
              </a:spcBef>
              <a:spcAft>
                <a:spcPts val="0"/>
              </a:spcAft>
              <a:buSzPts val="1400"/>
              <a:buChar char="○"/>
            </a:pPr>
            <a:r>
              <a:rPr lang="it"/>
              <a:t>Anche in questo caso si è estesa la regola dentro il gateway per fare IN nel set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7"/>
          <p:cNvSpPr txBox="1">
            <a:spLocks noGrp="1"/>
          </p:cNvSpPr>
          <p:nvPr>
            <p:ph type="title"/>
          </p:nvPr>
        </p:nvSpPr>
        <p:spPr>
          <a:xfrm>
            <a:off x="311700" y="10610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it" sz="1650" b="1">
                <a:solidFill>
                  <a:srgbClr val="1F2328"/>
                </a:solidFill>
                <a:highlight>
                  <a:schemeClr val="lt1"/>
                </a:highlight>
              </a:rPr>
              <a:t>tenant-name&gt;-remap-podcidr /&lt;tenant-name&gt;-remap-externalcidr  ESEMPIO</a:t>
            </a:r>
            <a:endParaRPr/>
          </a:p>
        </p:txBody>
      </p:sp>
      <p:pic>
        <p:nvPicPr>
          <p:cNvPr id="269" name="Google Shape;269;p47"/>
          <p:cNvPicPr preferRelativeResize="0"/>
          <p:nvPr/>
        </p:nvPicPr>
        <p:blipFill>
          <a:blip r:embed="rId3">
            <a:alphaModFix/>
          </a:blip>
          <a:stretch>
            <a:fillRect/>
          </a:stretch>
        </p:blipFill>
        <p:spPr>
          <a:xfrm>
            <a:off x="219300" y="586750"/>
            <a:ext cx="8839204" cy="2084636"/>
          </a:xfrm>
          <a:prstGeom prst="rect">
            <a:avLst/>
          </a:prstGeom>
          <a:noFill/>
          <a:ln>
            <a:noFill/>
          </a:ln>
        </p:spPr>
      </p:pic>
      <p:pic>
        <p:nvPicPr>
          <p:cNvPr id="270" name="Google Shape;270;p47"/>
          <p:cNvPicPr preferRelativeResize="0"/>
          <p:nvPr/>
        </p:nvPicPr>
        <p:blipFill>
          <a:blip r:embed="rId4">
            <a:alphaModFix/>
          </a:blip>
          <a:stretch>
            <a:fillRect/>
          </a:stretch>
        </p:blipFill>
        <p:spPr>
          <a:xfrm>
            <a:off x="996350" y="2830200"/>
            <a:ext cx="6935743" cy="23132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t"/>
              <a:t>Next Steps</a:t>
            </a:r>
            <a:endParaRPr/>
          </a:p>
        </p:txBody>
      </p:sp>
      <p:sp>
        <p:nvSpPr>
          <p:cNvPr id="276" name="Google Shape;276;p4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it"/>
              <a:t>Integrazione con Liqoctl</a:t>
            </a:r>
            <a:endParaRPr/>
          </a:p>
          <a:p>
            <a:pPr marL="457200" lvl="0" indent="-342900" algn="l" rtl="0">
              <a:spcBef>
                <a:spcPts val="0"/>
              </a:spcBef>
              <a:spcAft>
                <a:spcPts val="0"/>
              </a:spcAft>
              <a:buSzPts val="1800"/>
              <a:buChar char="●"/>
            </a:pPr>
            <a:r>
              <a:rPr lang="it"/>
              <a:t>Rimozione dualità port otherPorts</a:t>
            </a:r>
            <a:endParaRPr/>
          </a:p>
          <a:p>
            <a:pPr marL="457200" lvl="0" indent="-342900" algn="l" rtl="0">
              <a:spcBef>
                <a:spcPts val="0"/>
              </a:spcBef>
              <a:spcAft>
                <a:spcPts val="0"/>
              </a:spcAft>
              <a:buSzPts val="1800"/>
              <a:buChar char="●"/>
            </a:pPr>
            <a:r>
              <a:rPr lang="it"/>
              <a:t>Estensione Nodeport port</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2875</Words>
  <Application>Microsoft Office PowerPoint</Application>
  <PresentationFormat>Presentazione su schermo (16:9)</PresentationFormat>
  <Paragraphs>260</Paragraphs>
  <Slides>36</Slides>
  <Notes>36</Notes>
  <HiddenSlides>1</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36</vt:i4>
      </vt:variant>
    </vt:vector>
  </HeadingPairs>
  <TitlesOfParts>
    <vt:vector size="39" baseType="lpstr">
      <vt:lpstr>Arial</vt:lpstr>
      <vt:lpstr>Courier New</vt:lpstr>
      <vt:lpstr>Simple Light</vt:lpstr>
      <vt:lpstr>MULTI-TUNNEL in LIQO</vt:lpstr>
      <vt:lpstr>Motivation</vt:lpstr>
      <vt:lpstr>Problem</vt:lpstr>
      <vt:lpstr>Solution</vt:lpstr>
      <vt:lpstr>Preliminary Tests - Manual Implementation</vt:lpstr>
      <vt:lpstr>Final Results - Automated Implementation</vt:lpstr>
      <vt:lpstr>Implementation: High-Level Steps</vt:lpstr>
      <vt:lpstr>Implementation: Current State</vt:lpstr>
      <vt:lpstr>IMPLEMENTAZIONE</vt:lpstr>
      <vt:lpstr>Parametri aggiunti</vt:lpstr>
      <vt:lpstr>GatewayClient /Gateway Server</vt:lpstr>
      <vt:lpstr>GatewayClient</vt:lpstr>
      <vt:lpstr>GatewayServer</vt:lpstr>
      <vt:lpstr>Gateway Server problemi</vt:lpstr>
      <vt:lpstr>Gateway Client problemi e next-steps</vt:lpstr>
      <vt:lpstr>Creazione e configurazione interfacce</vt:lpstr>
      <vt:lpstr>Creazione di N interfacce </vt:lpstr>
      <vt:lpstr>Configurazione di N interfacce</vt:lpstr>
      <vt:lpstr>Gestione di Service,Handshake e Status</vt:lpstr>
      <vt:lpstr>Gestione del Service</vt:lpstr>
      <vt:lpstr>Service Status</vt:lpstr>
      <vt:lpstr>Keepalive</vt:lpstr>
      <vt:lpstr>Threaded NAPI</vt:lpstr>
      <vt:lpstr>Threaded Napi</vt:lpstr>
      <vt:lpstr>RouteConfiguration</vt:lpstr>
      <vt:lpstr>&lt;remote-cluster-id&gt;-gw-ext </vt:lpstr>
      <vt:lpstr>&lt;remote-cluster-id&gt;-gw-ext  ECMP</vt:lpstr>
      <vt:lpstr>&lt;remote-cluster-id&gt;-gw-ext </vt:lpstr>
      <vt:lpstr>milan-gw-ext  ESEMPIO</vt:lpstr>
      <vt:lpstr>&lt;local-cluster-id&gt;-&lt;node-name&gt;-gw-node</vt:lpstr>
      <vt:lpstr>&lt;local-cluster-id&gt;-&lt;node-name&gt;-gw-node  ESEMPIO</vt:lpstr>
      <vt:lpstr>FirewallConfiguration</vt:lpstr>
      <vt:lpstr>&lt;tenant-name&gt;-remap-podcidr /&lt;tenant-name&gt;-remap-externalcidr</vt:lpstr>
      <vt:lpstr>tenant-name&gt;-remap-podcidr /&lt;tenant-name&gt;-remap-externalcidr  DETTAGLI</vt:lpstr>
      <vt:lpstr>tenant-name&gt;-remap-podcidr /&lt;tenant-name&gt;-remap-externalcidr  ESEMPIO</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Mirco  Barone</cp:lastModifiedBy>
  <cp:revision>1</cp:revision>
  <dcterms:modified xsi:type="dcterms:W3CDTF">2026-03-10T09:23:32Z</dcterms:modified>
</cp:coreProperties>
</file>